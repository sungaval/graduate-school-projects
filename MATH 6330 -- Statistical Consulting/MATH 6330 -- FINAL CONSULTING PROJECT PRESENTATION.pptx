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7" r:id="rId3"/>
    <p:sldId id="258" r:id="rId4"/>
    <p:sldId id="259" r:id="rId5"/>
    <p:sldId id="268" r:id="rId6"/>
    <p:sldId id="261" r:id="rId7"/>
    <p:sldId id="260" r:id="rId8"/>
    <p:sldId id="262" r:id="rId9"/>
    <p:sldId id="264" r:id="rId10"/>
    <p:sldId id="265" r:id="rId11"/>
    <p:sldId id="266" r:id="rId12"/>
    <p:sldId id="270" r:id="rId13"/>
    <p:sldId id="271" r:id="rId14"/>
    <p:sldId id="269" r:id="rId1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lentinas Sungaila" initials="VS" lastIdx="1" clrIdx="0">
    <p:extLst>
      <p:ext uri="{19B8F6BF-5375-455C-9EA6-DF929625EA0E}">
        <p15:presenceInfo xmlns:p15="http://schemas.microsoft.com/office/powerpoint/2012/main" userId="ec20b47d17b4556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2264" autoAdjust="0"/>
  </p:normalViewPr>
  <p:slideViewPr>
    <p:cSldViewPr snapToGrid="0">
      <p:cViewPr varScale="1">
        <p:scale>
          <a:sx n="67" d="100"/>
          <a:sy n="67" d="100"/>
        </p:scale>
        <p:origin x="121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956398-252A-4E5D-A081-9C3B87D0F858}" type="datetimeFigureOut">
              <a:rPr lang="en-US" smtClean="0"/>
              <a:t>5/13/2020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524521-E018-4BDF-89F0-6AE49FC117B6}" type="slidenum">
              <a:rPr lang="en-US" smtClean="0"/>
              <a:t>‹#›</a:t>
            </a:fld>
            <a:endParaRPr lang="en-US"/>
          </a:p>
        </p:txBody>
      </p:sp>
    </p:spTree>
    <p:extLst>
      <p:ext uri="{BB962C8B-B14F-4D97-AF65-F5344CB8AC3E}">
        <p14:creationId xmlns:p14="http://schemas.microsoft.com/office/powerpoint/2010/main" val="3580346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Family wise error rate correction was chosen over other methods at the recommendation of the client. </a:t>
            </a:r>
          </a:p>
          <a:p>
            <a:endParaRPr lang="en-US" dirty="0"/>
          </a:p>
          <a:p>
            <a:r>
              <a:rPr lang="en-US" dirty="0"/>
              <a:t>Another option would’ve been False Detection Rate</a:t>
            </a:r>
          </a:p>
        </p:txBody>
      </p:sp>
      <p:sp>
        <p:nvSpPr>
          <p:cNvPr id="4" name="Slide Number Placeholder 3"/>
          <p:cNvSpPr>
            <a:spLocks noGrp="1"/>
          </p:cNvSpPr>
          <p:nvPr>
            <p:ph type="sldNum" sz="quarter" idx="5"/>
          </p:nvPr>
        </p:nvSpPr>
        <p:spPr/>
        <p:txBody>
          <a:bodyPr/>
          <a:lstStyle/>
          <a:p>
            <a:fld id="{9D524521-E018-4BDF-89F0-6AE49FC117B6}" type="slidenum">
              <a:rPr lang="en-US" smtClean="0"/>
              <a:t>7</a:t>
            </a:fld>
            <a:endParaRPr lang="en-US"/>
          </a:p>
        </p:txBody>
      </p:sp>
    </p:spTree>
    <p:extLst>
      <p:ext uri="{BB962C8B-B14F-4D97-AF65-F5344CB8AC3E}">
        <p14:creationId xmlns:p14="http://schemas.microsoft.com/office/powerpoint/2010/main" val="183596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Likelihood ratio test: Assesses the goodness of fit of two competing statistical models based on the </a:t>
            </a:r>
            <a:r>
              <a:rPr lang="en-US" i="0" dirty="0"/>
              <a:t>ratio</a:t>
            </a:r>
            <a:r>
              <a:rPr lang="en-US" dirty="0"/>
              <a:t> of their likelihood</a:t>
            </a:r>
          </a:p>
        </p:txBody>
      </p:sp>
      <p:sp>
        <p:nvSpPr>
          <p:cNvPr id="4" name="Slide Number Placeholder 3"/>
          <p:cNvSpPr>
            <a:spLocks noGrp="1"/>
          </p:cNvSpPr>
          <p:nvPr>
            <p:ph type="sldNum" sz="quarter" idx="5"/>
          </p:nvPr>
        </p:nvSpPr>
        <p:spPr/>
        <p:txBody>
          <a:bodyPr/>
          <a:lstStyle/>
          <a:p>
            <a:fld id="{9D524521-E018-4BDF-89F0-6AE49FC117B6}" type="slidenum">
              <a:rPr lang="en-US" smtClean="0"/>
              <a:t>9</a:t>
            </a:fld>
            <a:endParaRPr lang="en-US"/>
          </a:p>
        </p:txBody>
      </p:sp>
    </p:spTree>
    <p:extLst>
      <p:ext uri="{BB962C8B-B14F-4D97-AF65-F5344CB8AC3E}">
        <p14:creationId xmlns:p14="http://schemas.microsoft.com/office/powerpoint/2010/main" val="22460879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way the effect size is measured is highly dependent on the hypothesis testing being carried out. If the difference of means was desired, for example, something called </a:t>
            </a:r>
            <a:r>
              <a:rPr lang="en-US" dirty="0" err="1"/>
              <a:t>cohen’s</a:t>
            </a:r>
            <a:r>
              <a:rPr lang="en-US" dirty="0"/>
              <a:t> d could be used, which is basically the difference in means divided by the standard deviation.</a:t>
            </a:r>
          </a:p>
          <a:p>
            <a:endParaRPr lang="en-US" dirty="0"/>
          </a:p>
          <a:p>
            <a:r>
              <a:rPr lang="en-US" dirty="0"/>
              <a:t>In our case, since we were testing the variance explained by one factor, meaning we were testing within the framework of an F-test, we went with </a:t>
            </a:r>
            <a:r>
              <a:rPr lang="en-US" dirty="0" err="1"/>
              <a:t>cohen’s</a:t>
            </a:r>
            <a:r>
              <a:rPr lang="en-US" dirty="0"/>
              <a:t> f2.</a:t>
            </a:r>
          </a:p>
          <a:p>
            <a:endParaRPr lang="en-US" dirty="0"/>
          </a:p>
          <a:p>
            <a:r>
              <a:rPr lang="en-US" dirty="0"/>
              <a:t>Reason why there’s no good power test for categorial outcomes: There’s no R^2/variance explained metric</a:t>
            </a:r>
          </a:p>
        </p:txBody>
      </p:sp>
      <p:sp>
        <p:nvSpPr>
          <p:cNvPr id="4" name="Slide Number Placeholder 3"/>
          <p:cNvSpPr>
            <a:spLocks noGrp="1"/>
          </p:cNvSpPr>
          <p:nvPr>
            <p:ph type="sldNum" sz="quarter" idx="5"/>
          </p:nvPr>
        </p:nvSpPr>
        <p:spPr/>
        <p:txBody>
          <a:bodyPr/>
          <a:lstStyle/>
          <a:p>
            <a:fld id="{9D524521-E018-4BDF-89F0-6AE49FC117B6}" type="slidenum">
              <a:rPr lang="en-US" smtClean="0"/>
              <a:t>10</a:t>
            </a:fld>
            <a:endParaRPr lang="en-US"/>
          </a:p>
        </p:txBody>
      </p:sp>
    </p:spTree>
    <p:extLst>
      <p:ext uri="{BB962C8B-B14F-4D97-AF65-F5344CB8AC3E}">
        <p14:creationId xmlns:p14="http://schemas.microsoft.com/office/powerpoint/2010/main" val="40795887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function works:</a:t>
            </a:r>
          </a:p>
          <a:p>
            <a:r>
              <a:rPr lang="en-US" dirty="0"/>
              <a:t> </a:t>
            </a:r>
            <a:r>
              <a:rPr lang="en-US" dirty="0" err="1"/>
              <a:t>p.body</a:t>
            </a:r>
            <a:r>
              <a:rPr lang="en-US" dirty="0"/>
              <a:t> &lt;- quote({</a:t>
            </a:r>
          </a:p>
          <a:p>
            <a:r>
              <a:rPr lang="en-US" dirty="0"/>
              <a:t>        lambda &lt;- f2 * (u + v + 1)</a:t>
            </a:r>
          </a:p>
          <a:p>
            <a:r>
              <a:rPr lang="en-US" dirty="0"/>
              <a:t>        pf(</a:t>
            </a:r>
            <a:r>
              <a:rPr lang="en-US" dirty="0" err="1"/>
              <a:t>qf</a:t>
            </a:r>
            <a:r>
              <a:rPr lang="en-US" dirty="0"/>
              <a:t>(</a:t>
            </a:r>
            <a:r>
              <a:rPr lang="en-US" dirty="0" err="1"/>
              <a:t>sig.level</a:t>
            </a:r>
            <a:r>
              <a:rPr lang="en-US" dirty="0"/>
              <a:t>, u, v, lower = FALSE), u, v, lambda, </a:t>
            </a:r>
          </a:p>
          <a:p>
            <a:r>
              <a:rPr lang="en-US" dirty="0"/>
              <a:t>            lower = FALSE)</a:t>
            </a:r>
          </a:p>
          <a:p>
            <a:r>
              <a:rPr lang="en-US" dirty="0"/>
              <a:t>    })</a:t>
            </a:r>
          </a:p>
          <a:p>
            <a:r>
              <a:rPr lang="en-US" dirty="0"/>
              <a:t>f2 &lt;- </a:t>
            </a:r>
            <a:r>
              <a:rPr lang="en-US" dirty="0" err="1"/>
              <a:t>uniroot</a:t>
            </a:r>
            <a:r>
              <a:rPr lang="en-US" dirty="0"/>
              <a:t>(function(f2) eval(</a:t>
            </a:r>
            <a:r>
              <a:rPr lang="en-US" dirty="0" err="1"/>
              <a:t>p.body</a:t>
            </a:r>
            <a:r>
              <a:rPr lang="en-US" dirty="0"/>
              <a:t>) - power, c(1e-07, </a:t>
            </a:r>
          </a:p>
          <a:p>
            <a:r>
              <a:rPr lang="en-US" dirty="0"/>
              <a:t>            1e+07))$root</a:t>
            </a:r>
          </a:p>
          <a:p>
            <a:endParaRPr lang="en-US" dirty="0"/>
          </a:p>
          <a:p>
            <a:r>
              <a:rPr lang="en-US" dirty="0"/>
              <a:t>Lambda is the non-centrality parameter of an F-test</a:t>
            </a:r>
          </a:p>
        </p:txBody>
      </p:sp>
      <p:sp>
        <p:nvSpPr>
          <p:cNvPr id="4" name="Slide Number Placeholder 3"/>
          <p:cNvSpPr>
            <a:spLocks noGrp="1"/>
          </p:cNvSpPr>
          <p:nvPr>
            <p:ph type="sldNum" sz="quarter" idx="5"/>
          </p:nvPr>
        </p:nvSpPr>
        <p:spPr/>
        <p:txBody>
          <a:bodyPr/>
          <a:lstStyle/>
          <a:p>
            <a:fld id="{9D524521-E018-4BDF-89F0-6AE49FC117B6}" type="slidenum">
              <a:rPr lang="en-US" smtClean="0"/>
              <a:t>11</a:t>
            </a:fld>
            <a:endParaRPr lang="en-US"/>
          </a:p>
        </p:txBody>
      </p:sp>
    </p:spTree>
    <p:extLst>
      <p:ext uri="{BB962C8B-B14F-4D97-AF65-F5344CB8AC3E}">
        <p14:creationId xmlns:p14="http://schemas.microsoft.com/office/powerpoint/2010/main" val="4089193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if there’s any structure to the way the observations exist in relations to disease characteristics, clustering analysis can be done to the data.</a:t>
            </a:r>
          </a:p>
          <a:p>
            <a:endParaRPr lang="en-US" dirty="0"/>
          </a:p>
          <a:p>
            <a:r>
              <a:rPr lang="en-US" dirty="0"/>
              <a:t>As a reminder, in the dataset we got not only the genetic variants but also risk scores, and other secondary phenotypes, including binary flags indicating if the person had an associated disease such as diabetes or arthritis.</a:t>
            </a:r>
          </a:p>
          <a:p>
            <a:endParaRPr lang="en-US" dirty="0"/>
          </a:p>
          <a:p>
            <a:r>
              <a:rPr lang="en-US" dirty="0"/>
              <a:t>The problem with trying to create a cluster analysis with a lot of these variables is that clustering usually does so based on a dissimilarity matrix computed using some sort of distance metric, which cannot easily be computed for binary or categorical variables. Another drawback is that it cannot handle missing values, so people normally omit those observations or try to impute those values.</a:t>
            </a:r>
          </a:p>
          <a:p>
            <a:endParaRPr lang="en-US" dirty="0"/>
          </a:p>
          <a:p>
            <a:r>
              <a:rPr lang="en-US" dirty="0"/>
              <a:t>I created a k-means cluster combining age of onset, skin coverage as a numerical variable, and the score variables to see if there was any obvious structure to the data.</a:t>
            </a:r>
          </a:p>
        </p:txBody>
      </p:sp>
      <p:sp>
        <p:nvSpPr>
          <p:cNvPr id="4" name="Slide Number Placeholder 3"/>
          <p:cNvSpPr>
            <a:spLocks noGrp="1"/>
          </p:cNvSpPr>
          <p:nvPr>
            <p:ph type="sldNum" sz="quarter" idx="5"/>
          </p:nvPr>
        </p:nvSpPr>
        <p:spPr/>
        <p:txBody>
          <a:bodyPr/>
          <a:lstStyle/>
          <a:p>
            <a:fld id="{9D524521-E018-4BDF-89F0-6AE49FC117B6}" type="slidenum">
              <a:rPr lang="en-US" smtClean="0"/>
              <a:t>12</a:t>
            </a:fld>
            <a:endParaRPr lang="en-US"/>
          </a:p>
        </p:txBody>
      </p:sp>
    </p:spTree>
    <p:extLst>
      <p:ext uri="{BB962C8B-B14F-4D97-AF65-F5344CB8AC3E}">
        <p14:creationId xmlns:p14="http://schemas.microsoft.com/office/powerpoint/2010/main" val="11523133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clusters were chosen, which you can see on this plot of the first two principal components. Normally, when there is distinct structure in the data you’d see clusters that are nicely defined and separate from one another</a:t>
            </a:r>
          </a:p>
          <a:p>
            <a:endParaRPr lang="en-US" dirty="0"/>
          </a:p>
          <a:p>
            <a:r>
              <a:rPr lang="en-US" dirty="0"/>
              <a:t>In this instance, while there’s still some distinct clustering, there’s too much overlap, especially between cluster 3 and the other two. </a:t>
            </a:r>
          </a:p>
          <a:p>
            <a:endParaRPr lang="en-US" dirty="0"/>
          </a:p>
          <a:p>
            <a:r>
              <a:rPr lang="en-US" dirty="0"/>
              <a:t>Going with a higher number of clusters did not help in the differentiation of them, which is why we went with 3.</a:t>
            </a:r>
          </a:p>
          <a:p>
            <a:endParaRPr lang="en-US" dirty="0"/>
          </a:p>
          <a:p>
            <a:r>
              <a:rPr lang="en-US" dirty="0"/>
              <a:t>So, there seems to be some possible structure in the data and might be worthwhile to explore it further, however given the time constraints, that was not possible for this project. Other clustering methods might be explored, such as hierarchical clustering or using different distance metrics, such as </a:t>
            </a:r>
            <a:r>
              <a:rPr lang="en-US" dirty="0" err="1"/>
              <a:t>pearson’s</a:t>
            </a:r>
            <a:r>
              <a:rPr lang="en-US" dirty="0"/>
              <a:t> correlation.</a:t>
            </a:r>
          </a:p>
        </p:txBody>
      </p:sp>
      <p:sp>
        <p:nvSpPr>
          <p:cNvPr id="4" name="Slide Number Placeholder 3"/>
          <p:cNvSpPr>
            <a:spLocks noGrp="1"/>
          </p:cNvSpPr>
          <p:nvPr>
            <p:ph type="sldNum" sz="quarter" idx="5"/>
          </p:nvPr>
        </p:nvSpPr>
        <p:spPr/>
        <p:txBody>
          <a:bodyPr/>
          <a:lstStyle/>
          <a:p>
            <a:fld id="{9D524521-E018-4BDF-89F0-6AE49FC117B6}" type="slidenum">
              <a:rPr lang="en-US" smtClean="0"/>
              <a:t>13</a:t>
            </a:fld>
            <a:endParaRPr lang="en-US"/>
          </a:p>
        </p:txBody>
      </p:sp>
    </p:spTree>
    <p:extLst>
      <p:ext uri="{BB962C8B-B14F-4D97-AF65-F5344CB8AC3E}">
        <p14:creationId xmlns:p14="http://schemas.microsoft.com/office/powerpoint/2010/main" val="2583342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B49F2A-864D-4B45-83AF-CE6044A13ECF}" type="datetimeFigureOut">
              <a:rPr lang="en-US" smtClean="0"/>
              <a:t>5/13/2020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D165F0-8B12-410D-A99E-4615345DFC4E}" type="slidenum">
              <a:rPr lang="en-US" smtClean="0"/>
              <a:t>‹#›</a:t>
            </a:fld>
            <a:endParaRPr lang="en-US"/>
          </a:p>
        </p:txBody>
      </p:sp>
    </p:spTree>
    <p:extLst>
      <p:ext uri="{BB962C8B-B14F-4D97-AF65-F5344CB8AC3E}">
        <p14:creationId xmlns:p14="http://schemas.microsoft.com/office/powerpoint/2010/main" val="3150390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81B49F2A-864D-4B45-83AF-CE6044A13ECF}" type="datetimeFigureOut">
              <a:rPr lang="en-US" smtClean="0"/>
              <a:t>5/13/2020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D165F0-8B12-410D-A99E-4615345DFC4E}" type="slidenum">
              <a:rPr lang="en-US" smtClean="0"/>
              <a:t>‹#›</a:t>
            </a:fld>
            <a:endParaRPr lang="en-US"/>
          </a:p>
        </p:txBody>
      </p:sp>
    </p:spTree>
    <p:extLst>
      <p:ext uri="{BB962C8B-B14F-4D97-AF65-F5344CB8AC3E}">
        <p14:creationId xmlns:p14="http://schemas.microsoft.com/office/powerpoint/2010/main" val="1425707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B49F2A-864D-4B45-83AF-CE6044A13ECF}" type="datetimeFigureOut">
              <a:rPr lang="en-US" smtClean="0"/>
              <a:t>5/13/2020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D165F0-8B12-410D-A99E-4615345DFC4E}" type="slidenum">
              <a:rPr lang="en-US" smtClean="0"/>
              <a:t>‹#›</a:t>
            </a:fld>
            <a:endParaRPr lang="en-US"/>
          </a:p>
        </p:txBody>
      </p:sp>
    </p:spTree>
    <p:extLst>
      <p:ext uri="{BB962C8B-B14F-4D97-AF65-F5344CB8AC3E}">
        <p14:creationId xmlns:p14="http://schemas.microsoft.com/office/powerpoint/2010/main" val="1743628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B49F2A-864D-4B45-83AF-CE6044A13ECF}" type="datetimeFigureOut">
              <a:rPr lang="en-US" smtClean="0"/>
              <a:t>5/13/2020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D165F0-8B12-410D-A99E-4615345DFC4E}" type="slidenum">
              <a:rPr lang="en-US" smtClean="0"/>
              <a:t>‹#›</a:t>
            </a:fld>
            <a:endParaRPr lang="en-US"/>
          </a:p>
        </p:txBody>
      </p:sp>
    </p:spTree>
    <p:extLst>
      <p:ext uri="{BB962C8B-B14F-4D97-AF65-F5344CB8AC3E}">
        <p14:creationId xmlns:p14="http://schemas.microsoft.com/office/powerpoint/2010/main" val="2427487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B49F2A-864D-4B45-83AF-CE6044A13ECF}" type="datetimeFigureOut">
              <a:rPr lang="en-US" smtClean="0"/>
              <a:t>5/13/2020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D165F0-8B12-410D-A99E-4615345DFC4E}" type="slidenum">
              <a:rPr lang="en-US" smtClean="0"/>
              <a:t>‹#›</a:t>
            </a:fld>
            <a:endParaRPr lang="en-US"/>
          </a:p>
        </p:txBody>
      </p:sp>
    </p:spTree>
    <p:extLst>
      <p:ext uri="{BB962C8B-B14F-4D97-AF65-F5344CB8AC3E}">
        <p14:creationId xmlns:p14="http://schemas.microsoft.com/office/powerpoint/2010/main" val="713556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1B49F2A-864D-4B45-83AF-CE6044A13ECF}" type="datetimeFigureOut">
              <a:rPr lang="en-US" smtClean="0"/>
              <a:t>5/13/2020</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DD165F0-8B12-410D-A99E-4615345DFC4E}" type="slidenum">
              <a:rPr lang="en-US" smtClean="0"/>
              <a:t>‹#›</a:t>
            </a:fld>
            <a:endParaRPr lang="en-US"/>
          </a:p>
        </p:txBody>
      </p:sp>
    </p:spTree>
    <p:extLst>
      <p:ext uri="{BB962C8B-B14F-4D97-AF65-F5344CB8AC3E}">
        <p14:creationId xmlns:p14="http://schemas.microsoft.com/office/powerpoint/2010/main" val="4012997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1B49F2A-864D-4B45-83AF-CE6044A13ECF}" type="datetimeFigureOut">
              <a:rPr lang="en-US" smtClean="0"/>
              <a:t>5/13/2020</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DD165F0-8B12-410D-A99E-4615345DFC4E}" type="slidenum">
              <a:rPr lang="en-US" smtClean="0"/>
              <a:t>‹#›</a:t>
            </a:fld>
            <a:endParaRPr lang="en-US"/>
          </a:p>
        </p:txBody>
      </p:sp>
    </p:spTree>
    <p:extLst>
      <p:ext uri="{BB962C8B-B14F-4D97-AF65-F5344CB8AC3E}">
        <p14:creationId xmlns:p14="http://schemas.microsoft.com/office/powerpoint/2010/main" val="3796045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1B49F2A-864D-4B45-83AF-CE6044A13ECF}" type="datetimeFigureOut">
              <a:rPr lang="en-US" smtClean="0"/>
              <a:t>5/13/2020</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DD165F0-8B12-410D-A99E-4615345DFC4E}" type="slidenum">
              <a:rPr lang="en-US" smtClean="0"/>
              <a:t>‹#›</a:t>
            </a:fld>
            <a:endParaRPr lang="en-US"/>
          </a:p>
        </p:txBody>
      </p:sp>
    </p:spTree>
    <p:extLst>
      <p:ext uri="{BB962C8B-B14F-4D97-AF65-F5344CB8AC3E}">
        <p14:creationId xmlns:p14="http://schemas.microsoft.com/office/powerpoint/2010/main" val="1702578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B49F2A-864D-4B45-83AF-CE6044A13ECF}" type="datetimeFigureOut">
              <a:rPr lang="en-US" smtClean="0"/>
              <a:t>5/13/2020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D165F0-8B12-410D-A99E-4615345DFC4E}" type="slidenum">
              <a:rPr lang="en-US" smtClean="0"/>
              <a:t>‹#›</a:t>
            </a:fld>
            <a:endParaRPr lang="en-US"/>
          </a:p>
        </p:txBody>
      </p:sp>
    </p:spTree>
    <p:extLst>
      <p:ext uri="{BB962C8B-B14F-4D97-AF65-F5344CB8AC3E}">
        <p14:creationId xmlns:p14="http://schemas.microsoft.com/office/powerpoint/2010/main" val="997441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B49F2A-864D-4B45-83AF-CE6044A13ECF}" type="datetimeFigureOut">
              <a:rPr lang="en-US" smtClean="0"/>
              <a:t>5/13/2020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D165F0-8B12-410D-A99E-4615345DFC4E}" type="slidenum">
              <a:rPr lang="en-US" smtClean="0"/>
              <a:t>‹#›</a:t>
            </a:fld>
            <a:endParaRPr lang="en-US"/>
          </a:p>
        </p:txBody>
      </p:sp>
    </p:spTree>
    <p:extLst>
      <p:ext uri="{BB962C8B-B14F-4D97-AF65-F5344CB8AC3E}">
        <p14:creationId xmlns:p14="http://schemas.microsoft.com/office/powerpoint/2010/main" val="3656177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1B49F2A-864D-4B45-83AF-CE6044A13ECF}" type="datetimeFigureOut">
              <a:rPr lang="en-US" smtClean="0"/>
              <a:t>5/13/2020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D165F0-8B12-410D-A99E-4615345DFC4E}" type="slidenum">
              <a:rPr lang="en-US" smtClean="0"/>
              <a:t>‹#›</a:t>
            </a:fld>
            <a:endParaRPr lang="en-US"/>
          </a:p>
        </p:txBody>
      </p:sp>
    </p:spTree>
    <p:extLst>
      <p:ext uri="{BB962C8B-B14F-4D97-AF65-F5344CB8AC3E}">
        <p14:creationId xmlns:p14="http://schemas.microsoft.com/office/powerpoint/2010/main" val="994505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1B49F2A-864D-4B45-83AF-CE6044A13ECF}" type="datetimeFigureOut">
              <a:rPr lang="en-US" smtClean="0"/>
              <a:t>5/13/2020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D165F0-8B12-410D-A99E-4615345DFC4E}"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3705253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B49F2A-864D-4B45-83AF-CE6044A13ECF}" type="datetimeFigureOut">
              <a:rPr lang="en-US" smtClean="0"/>
              <a:t>5/13/2020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D165F0-8B12-410D-A99E-4615345DFC4E}" type="slidenum">
              <a:rPr lang="en-US" smtClean="0"/>
              <a:t>‹#›</a:t>
            </a:fld>
            <a:endParaRPr lang="en-US"/>
          </a:p>
        </p:txBody>
      </p:sp>
    </p:spTree>
    <p:extLst>
      <p:ext uri="{BB962C8B-B14F-4D97-AF65-F5344CB8AC3E}">
        <p14:creationId xmlns:p14="http://schemas.microsoft.com/office/powerpoint/2010/main" val="3210647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1B49F2A-864D-4B45-83AF-CE6044A13ECF}" type="datetimeFigureOut">
              <a:rPr lang="en-US" smtClean="0"/>
              <a:t>5/13/2020</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D165F0-8B12-410D-A99E-4615345DFC4E}" type="slidenum">
              <a:rPr lang="en-US" smtClean="0"/>
              <a:t>‹#›</a:t>
            </a:fld>
            <a:endParaRPr lang="en-US"/>
          </a:p>
        </p:txBody>
      </p:sp>
    </p:spTree>
    <p:extLst>
      <p:ext uri="{BB962C8B-B14F-4D97-AF65-F5344CB8AC3E}">
        <p14:creationId xmlns:p14="http://schemas.microsoft.com/office/powerpoint/2010/main" val="14105893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1B49F2A-864D-4B45-83AF-CE6044A13ECF}" type="datetimeFigureOut">
              <a:rPr lang="en-US" smtClean="0"/>
              <a:t>5/13/2020</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D165F0-8B12-410D-A99E-4615345DFC4E}" type="slidenum">
              <a:rPr lang="en-US" smtClean="0"/>
              <a:t>‹#›</a:t>
            </a:fld>
            <a:endParaRPr lang="en-US"/>
          </a:p>
        </p:txBody>
      </p:sp>
    </p:spTree>
    <p:extLst>
      <p:ext uri="{BB962C8B-B14F-4D97-AF65-F5344CB8AC3E}">
        <p14:creationId xmlns:p14="http://schemas.microsoft.com/office/powerpoint/2010/main" val="36936080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B49F2A-864D-4B45-83AF-CE6044A13ECF}" type="datetimeFigureOut">
              <a:rPr lang="en-US" smtClean="0"/>
              <a:t>5/13/2020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D165F0-8B12-410D-A99E-4615345DFC4E}" type="slidenum">
              <a:rPr lang="en-US" smtClean="0"/>
              <a:t>‹#›</a:t>
            </a:fld>
            <a:endParaRPr lang="en-US"/>
          </a:p>
        </p:txBody>
      </p:sp>
    </p:spTree>
    <p:extLst>
      <p:ext uri="{BB962C8B-B14F-4D97-AF65-F5344CB8AC3E}">
        <p14:creationId xmlns:p14="http://schemas.microsoft.com/office/powerpoint/2010/main" val="38819517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B49F2A-864D-4B45-83AF-CE6044A13ECF}" type="datetimeFigureOut">
              <a:rPr lang="en-US" smtClean="0"/>
              <a:t>5/13/2020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D165F0-8B12-410D-A99E-4615345DFC4E}" type="slidenum">
              <a:rPr lang="en-US" smtClean="0"/>
              <a:t>‹#›</a:t>
            </a:fld>
            <a:endParaRPr lang="en-US"/>
          </a:p>
        </p:txBody>
      </p:sp>
    </p:spTree>
    <p:extLst>
      <p:ext uri="{BB962C8B-B14F-4D97-AF65-F5344CB8AC3E}">
        <p14:creationId xmlns:p14="http://schemas.microsoft.com/office/powerpoint/2010/main" val="1672743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1B49F2A-864D-4B45-83AF-CE6044A13ECF}" type="datetimeFigureOut">
              <a:rPr lang="en-US" smtClean="0"/>
              <a:t>5/13/2020</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DD165F0-8B12-410D-A99E-4615345DFC4E}" type="slidenum">
              <a:rPr lang="en-US" smtClean="0"/>
              <a:t>‹#›</a:t>
            </a:fld>
            <a:endParaRPr lang="en-US"/>
          </a:p>
        </p:txBody>
      </p:sp>
    </p:spTree>
    <p:extLst>
      <p:ext uri="{BB962C8B-B14F-4D97-AF65-F5344CB8AC3E}">
        <p14:creationId xmlns:p14="http://schemas.microsoft.com/office/powerpoint/2010/main" val="408611396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16456-F33D-4AAD-9F2C-0604122603AA}"/>
              </a:ext>
            </a:extLst>
          </p:cNvPr>
          <p:cNvSpPr>
            <a:spLocks noGrp="1"/>
          </p:cNvSpPr>
          <p:nvPr>
            <p:ph type="ctrTitle"/>
          </p:nvPr>
        </p:nvSpPr>
        <p:spPr/>
        <p:txBody>
          <a:bodyPr>
            <a:normAutofit fontScale="90000"/>
          </a:bodyPr>
          <a:lstStyle/>
          <a:p>
            <a:r>
              <a:rPr lang="en-US" sz="4800" dirty="0"/>
              <a:t>CONSULTING PROJECT: </a:t>
            </a:r>
            <a:br>
              <a:rPr lang="en-US" sz="4800" dirty="0"/>
            </a:br>
            <a:r>
              <a:rPr lang="en-US" sz="4800" dirty="0"/>
              <a:t>VITILIGO DISEASE CHARACTERISTICS</a:t>
            </a:r>
            <a:br>
              <a:rPr lang="en-US" dirty="0"/>
            </a:br>
            <a:endParaRPr lang="en-US" dirty="0"/>
          </a:p>
        </p:txBody>
      </p:sp>
      <p:sp>
        <p:nvSpPr>
          <p:cNvPr id="3" name="Subtitle 2">
            <a:extLst>
              <a:ext uri="{FF2B5EF4-FFF2-40B4-BE49-F238E27FC236}">
                <a16:creationId xmlns:a16="http://schemas.microsoft.com/office/drawing/2014/main" id="{D5D9A0BD-CE63-4A25-BC0E-8C7A88C99982}"/>
              </a:ext>
            </a:extLst>
          </p:cNvPr>
          <p:cNvSpPr>
            <a:spLocks noGrp="1"/>
          </p:cNvSpPr>
          <p:nvPr>
            <p:ph type="subTitle" idx="1"/>
          </p:nvPr>
        </p:nvSpPr>
        <p:spPr>
          <a:xfrm>
            <a:off x="1412033" y="4525769"/>
            <a:ext cx="9144000" cy="1655762"/>
          </a:xfrm>
        </p:spPr>
        <p:txBody>
          <a:bodyPr/>
          <a:lstStyle/>
          <a:p>
            <a:r>
              <a:rPr lang="en-US" dirty="0"/>
              <a:t>Sandra Robles Muñoz and Valentinas Sungaila</a:t>
            </a:r>
          </a:p>
          <a:p>
            <a:r>
              <a:rPr lang="en-US" dirty="0"/>
              <a:t>Math 6330 – Spring 2020</a:t>
            </a:r>
          </a:p>
        </p:txBody>
      </p:sp>
    </p:spTree>
    <p:extLst>
      <p:ext uri="{BB962C8B-B14F-4D97-AF65-F5344CB8AC3E}">
        <p14:creationId xmlns:p14="http://schemas.microsoft.com/office/powerpoint/2010/main" val="2897153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7EC7E-D6C4-40C7-9838-4BB39534AEEE}"/>
              </a:ext>
            </a:extLst>
          </p:cNvPr>
          <p:cNvSpPr>
            <a:spLocks noGrp="1"/>
          </p:cNvSpPr>
          <p:nvPr>
            <p:ph type="title"/>
          </p:nvPr>
        </p:nvSpPr>
        <p:spPr/>
        <p:txBody>
          <a:bodyPr/>
          <a:lstStyle/>
          <a:p>
            <a:r>
              <a:rPr lang="en-US" dirty="0"/>
              <a:t>Project Overview</a:t>
            </a:r>
          </a:p>
        </p:txBody>
      </p:sp>
      <p:sp>
        <p:nvSpPr>
          <p:cNvPr id="3" name="Content Placeholder 2">
            <a:extLst>
              <a:ext uri="{FF2B5EF4-FFF2-40B4-BE49-F238E27FC236}">
                <a16:creationId xmlns:a16="http://schemas.microsoft.com/office/drawing/2014/main" id="{39F61BF6-4F13-460D-B68E-88759AFF3753}"/>
              </a:ext>
            </a:extLst>
          </p:cNvPr>
          <p:cNvSpPr>
            <a:spLocks noGrp="1"/>
          </p:cNvSpPr>
          <p:nvPr>
            <p:ph idx="1"/>
          </p:nvPr>
        </p:nvSpPr>
        <p:spPr/>
        <p:txBody>
          <a:bodyPr/>
          <a:lstStyle/>
          <a:p>
            <a:r>
              <a:rPr lang="en-US" sz="2400" dirty="0"/>
              <a:t>Client: Dr Stephanie Santorico</a:t>
            </a:r>
          </a:p>
          <a:p>
            <a:endParaRPr lang="en-US" sz="2400" dirty="0"/>
          </a:p>
          <a:p>
            <a:r>
              <a:rPr lang="en-US" sz="2400" dirty="0"/>
              <a:t>Data: Vitiligo and their disease characteristics</a:t>
            </a:r>
          </a:p>
          <a:p>
            <a:endParaRPr lang="en-US" sz="2400" i="1" dirty="0"/>
          </a:p>
          <a:p>
            <a:r>
              <a:rPr lang="en-US" sz="2400" dirty="0"/>
              <a:t>Vitiligo is a chronic autoimmune disease</a:t>
            </a:r>
          </a:p>
          <a:p>
            <a:pPr lvl="1"/>
            <a:r>
              <a:rPr lang="en-US" sz="2000" dirty="0"/>
              <a:t>Causes loss of pigment in hair and skin</a:t>
            </a:r>
          </a:p>
          <a:p>
            <a:pPr lvl="1"/>
            <a:r>
              <a:rPr lang="en-US" sz="2000" dirty="0"/>
              <a:t>Heritability of </a:t>
            </a:r>
            <a:r>
              <a:rPr lang="en-US" sz="2000" dirty="0">
                <a:sym typeface="Symbol" panose="05050102010706020507" pitchFamily="18" charset="2"/>
              </a:rPr>
              <a:t>75%</a:t>
            </a:r>
          </a:p>
          <a:p>
            <a:pPr lvl="1"/>
            <a:endParaRPr lang="en-US" dirty="0"/>
          </a:p>
          <a:p>
            <a:pPr lvl="1"/>
            <a:endParaRPr lang="en-US" dirty="0"/>
          </a:p>
          <a:p>
            <a:endParaRPr lang="en-US" dirty="0"/>
          </a:p>
          <a:p>
            <a:endParaRPr lang="en-US" dirty="0"/>
          </a:p>
          <a:p>
            <a:pPr lvl="1"/>
            <a:endParaRPr lang="en-US" dirty="0"/>
          </a:p>
          <a:p>
            <a:endParaRPr lang="en-US" dirty="0"/>
          </a:p>
        </p:txBody>
      </p:sp>
      <p:pic>
        <p:nvPicPr>
          <p:cNvPr id="6" name="Picture 5" descr="Vitiligo example, from wikipedia">
            <a:extLst>
              <a:ext uri="{FF2B5EF4-FFF2-40B4-BE49-F238E27FC236}">
                <a16:creationId xmlns:a16="http://schemas.microsoft.com/office/drawing/2014/main" id="{EE49F21E-F806-4D10-8F34-4CE043CFF7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0549" y="4506096"/>
            <a:ext cx="2456110" cy="1742303"/>
          </a:xfrm>
          <a:prstGeom prst="rect">
            <a:avLst/>
          </a:prstGeom>
        </p:spPr>
      </p:pic>
      <p:sp>
        <p:nvSpPr>
          <p:cNvPr id="7" name="TextBox 6">
            <a:extLst>
              <a:ext uri="{FF2B5EF4-FFF2-40B4-BE49-F238E27FC236}">
                <a16:creationId xmlns:a16="http://schemas.microsoft.com/office/drawing/2014/main" id="{34DA3ADA-DF01-416A-AD88-61D0D1C5D738}"/>
              </a:ext>
            </a:extLst>
          </p:cNvPr>
          <p:cNvSpPr txBox="1"/>
          <p:nvPr/>
        </p:nvSpPr>
        <p:spPr>
          <a:xfrm>
            <a:off x="9378778" y="6248399"/>
            <a:ext cx="2327881" cy="276999"/>
          </a:xfrm>
          <a:prstGeom prst="rect">
            <a:avLst/>
          </a:prstGeom>
          <a:noFill/>
        </p:spPr>
        <p:txBody>
          <a:bodyPr wrap="none" rtlCol="0">
            <a:spAutoFit/>
          </a:bodyPr>
          <a:lstStyle/>
          <a:p>
            <a:r>
              <a:rPr lang="en-US" sz="1200" i="1" dirty="0"/>
              <a:t>Image source: Wikipedia.org</a:t>
            </a:r>
          </a:p>
        </p:txBody>
      </p:sp>
    </p:spTree>
    <p:extLst>
      <p:ext uri="{BB962C8B-B14F-4D97-AF65-F5344CB8AC3E}">
        <p14:creationId xmlns:p14="http://schemas.microsoft.com/office/powerpoint/2010/main" val="592521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C0CDE-7A0E-4A82-9A5E-89B539EC6D10}"/>
              </a:ext>
            </a:extLst>
          </p:cNvPr>
          <p:cNvSpPr>
            <a:spLocks noGrp="1"/>
          </p:cNvSpPr>
          <p:nvPr>
            <p:ph type="title"/>
          </p:nvPr>
        </p:nvSpPr>
        <p:spPr/>
        <p:txBody>
          <a:bodyPr/>
          <a:lstStyle/>
          <a:p>
            <a:r>
              <a:rPr lang="en-US" dirty="0"/>
              <a:t>Data</a:t>
            </a:r>
          </a:p>
        </p:txBody>
      </p:sp>
      <p:sp>
        <p:nvSpPr>
          <p:cNvPr id="3" name="Content Placeholder 2">
            <a:extLst>
              <a:ext uri="{FF2B5EF4-FFF2-40B4-BE49-F238E27FC236}">
                <a16:creationId xmlns:a16="http://schemas.microsoft.com/office/drawing/2014/main" id="{CBF90606-45BC-41F3-8E11-99C71F946BEC}"/>
              </a:ext>
            </a:extLst>
          </p:cNvPr>
          <p:cNvSpPr>
            <a:spLocks noGrp="1"/>
          </p:cNvSpPr>
          <p:nvPr>
            <p:ph idx="1"/>
          </p:nvPr>
        </p:nvSpPr>
        <p:spPr>
          <a:xfrm>
            <a:off x="646111" y="1597981"/>
            <a:ext cx="9993775" cy="4588276"/>
          </a:xfrm>
        </p:spPr>
        <p:txBody>
          <a:bodyPr>
            <a:normAutofit fontScale="92500" lnSpcReduction="10000"/>
          </a:bodyPr>
          <a:lstStyle/>
          <a:p>
            <a:r>
              <a:rPr lang="en-US" dirty="0"/>
              <a:t>Dataset contains 2,268 total observations of people with vitiligo </a:t>
            </a:r>
          </a:p>
          <a:p>
            <a:pPr lvl="2">
              <a:buFont typeface="Wingdings" panose="05000000000000000000" pitchFamily="2" charset="2"/>
              <a:buChar char="q"/>
            </a:pPr>
            <a:r>
              <a:rPr lang="en-US" dirty="0"/>
              <a:t>Gathered across 3 GWAS by the </a:t>
            </a:r>
            <a:r>
              <a:rPr lang="en-US" i="1" dirty="0"/>
              <a:t>International </a:t>
            </a:r>
            <a:r>
              <a:rPr lang="en-US" i="1" dirty="0" err="1"/>
              <a:t>VitGene</a:t>
            </a:r>
            <a:r>
              <a:rPr lang="en-US" i="1" dirty="0"/>
              <a:t> Consortium </a:t>
            </a:r>
          </a:p>
          <a:p>
            <a:pPr lvl="2">
              <a:buFont typeface="Wingdings" panose="05000000000000000000" pitchFamily="2" charset="2"/>
              <a:buChar char="q"/>
            </a:pPr>
            <a:r>
              <a:rPr lang="en-US" dirty="0"/>
              <a:t>Individuals of European descent</a:t>
            </a:r>
          </a:p>
          <a:p>
            <a:pPr marL="0" indent="0">
              <a:buNone/>
            </a:pPr>
            <a:endParaRPr lang="en-US" dirty="0"/>
          </a:p>
          <a:p>
            <a:r>
              <a:rPr lang="en-US" dirty="0"/>
              <a:t>46 distinct genetic variants/SNPs, measured as the total sum of minor allele counts (0-2)</a:t>
            </a:r>
          </a:p>
          <a:p>
            <a:pPr lvl="2">
              <a:buFont typeface="Wingdings" panose="05000000000000000000" pitchFamily="2" charset="2"/>
              <a:buChar char="q"/>
            </a:pPr>
            <a:r>
              <a:rPr lang="en-US" dirty="0"/>
              <a:t>Previously demonstrated by client to be associated with risk of developing vitiligo</a:t>
            </a:r>
          </a:p>
          <a:p>
            <a:endParaRPr lang="en-US" dirty="0"/>
          </a:p>
          <a:p>
            <a:r>
              <a:rPr lang="en-US" dirty="0"/>
              <a:t>Measured disease characteristics: age of onset, skin surface area quartile, Koebner Phenomenon, Halo Nevi, acrofacial pattern, auto-immune disease with age of onset</a:t>
            </a:r>
          </a:p>
          <a:p>
            <a:endParaRPr lang="en-US" dirty="0"/>
          </a:p>
          <a:p>
            <a:r>
              <a:rPr lang="en-US" dirty="0"/>
              <a:t>Covariates: genetic principal components</a:t>
            </a:r>
          </a:p>
          <a:p>
            <a:endParaRPr lang="en-US" dirty="0"/>
          </a:p>
        </p:txBody>
      </p:sp>
    </p:spTree>
    <p:extLst>
      <p:ext uri="{BB962C8B-B14F-4D97-AF65-F5344CB8AC3E}">
        <p14:creationId xmlns:p14="http://schemas.microsoft.com/office/powerpoint/2010/main" val="2627148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29A7F-CA43-4DAD-944E-A719A29D2195}"/>
              </a:ext>
            </a:extLst>
          </p:cNvPr>
          <p:cNvSpPr>
            <a:spLocks noGrp="1"/>
          </p:cNvSpPr>
          <p:nvPr>
            <p:ph type="title"/>
          </p:nvPr>
        </p:nvSpPr>
        <p:spPr/>
        <p:txBody>
          <a:bodyPr/>
          <a:lstStyle/>
          <a:p>
            <a:r>
              <a:rPr lang="en-US" dirty="0"/>
              <a:t>Client Questions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74D9D3A-EF46-44E8-BF57-70FF7CDF1D01}"/>
                  </a:ext>
                </a:extLst>
              </p:cNvPr>
              <p:cNvSpPr>
                <a:spLocks noGrp="1"/>
              </p:cNvSpPr>
              <p:nvPr>
                <p:ph idx="1"/>
              </p:nvPr>
            </p:nvSpPr>
            <p:spPr>
              <a:xfrm>
                <a:off x="517386" y="1751077"/>
                <a:ext cx="10943686" cy="4422527"/>
              </a:xfrm>
            </p:spPr>
            <p:txBody>
              <a:bodyPr>
                <a:normAutofit fontScale="85000" lnSpcReduction="20000"/>
              </a:bodyPr>
              <a:lstStyle/>
              <a:p>
                <a:r>
                  <a:rPr lang="en-US" sz="2800" dirty="0"/>
                  <a:t>Q1: Are the genetic variants individually associated with vitiligo disease characteristics?</a:t>
                </a:r>
              </a:p>
              <a:p>
                <a:endParaRPr lang="en-US" sz="2800" dirty="0"/>
              </a:p>
              <a:p>
                <a:r>
                  <a:rPr lang="en-US" sz="2800" dirty="0"/>
                  <a:t>Q2: What effect sizes for disease characteristics are detectable with </a:t>
                </a:r>
                <a:r>
                  <a:rPr lang="en-US" sz="2800" dirty="0">
                    <a:sym typeface="Symbol" panose="05050102010706020507" pitchFamily="18" charset="2"/>
                  </a:rPr>
                  <a:t> 80% power </a:t>
                </a:r>
              </a:p>
              <a:p>
                <a:pPr lvl="2">
                  <a:buFont typeface="Wingdings" panose="05000000000000000000" pitchFamily="2" charset="2"/>
                  <a:buChar char="q"/>
                </a:pPr>
                <a:r>
                  <a:rPr lang="en-US" sz="2400" dirty="0">
                    <a:sym typeface="Symbol" panose="05050102010706020507" pitchFamily="18" charset="2"/>
                  </a:rPr>
                  <a:t>Without adjustment for multiple testing</a:t>
                </a:r>
              </a:p>
              <a:p>
                <a:pPr lvl="2">
                  <a:buFont typeface="Wingdings" panose="05000000000000000000" pitchFamily="2" charset="2"/>
                  <a:buChar char="q"/>
                </a:pPr>
                <a:r>
                  <a:rPr lang="en-US" sz="2400" dirty="0">
                    <a:sym typeface="Symbol" panose="05050102010706020507" pitchFamily="18" charset="2"/>
                  </a:rPr>
                  <a:t>Adjustment for the number of tests in Q1</a:t>
                </a:r>
              </a:p>
              <a:p>
                <a:pPr lvl="2">
                  <a:buFont typeface="Wingdings" panose="05000000000000000000" pitchFamily="2" charset="2"/>
                  <a:buChar char="q"/>
                </a:pPr>
                <a:r>
                  <a:rPr lang="en-US" sz="2400" dirty="0">
                    <a:sym typeface="Symbol" panose="05050102010706020507" pitchFamily="18" charset="2"/>
                  </a:rPr>
                  <a:t>Genome-wide adjustment (</a:t>
                </a:r>
                <a14:m>
                  <m:oMath xmlns:m="http://schemas.openxmlformats.org/officeDocument/2006/math">
                    <m:r>
                      <a:rPr lang="en-US" sz="2400" b="0" i="1" smtClean="0">
                        <a:latin typeface="Cambria Math" panose="02040503050406030204" pitchFamily="18" charset="0"/>
                        <a:sym typeface="Symbol" panose="05050102010706020507" pitchFamily="18" charset="2"/>
                      </a:rPr>
                      <m:t>𝛼</m:t>
                    </m:r>
                    <m:r>
                      <a:rPr lang="en-US" sz="2400" b="0" i="1" smtClean="0">
                        <a:latin typeface="Cambria Math" panose="02040503050406030204" pitchFamily="18" charset="0"/>
                        <a:sym typeface="Symbol" panose="05050102010706020507" pitchFamily="18" charset="2"/>
                      </a:rPr>
                      <m:t>=5</m:t>
                    </m:r>
                    <m:r>
                      <a:rPr lang="en-US" sz="2400" i="1">
                        <a:latin typeface="Cambria Math" panose="02040503050406030204" pitchFamily="18" charset="0"/>
                        <a:sym typeface="Symbol" panose="05050102010706020507" pitchFamily="18" charset="2"/>
                      </a:rPr>
                      <m:t>𝑒</m:t>
                    </m:r>
                    <m:r>
                      <a:rPr lang="en-US" sz="2400" b="0" i="1" smtClean="0">
                        <a:latin typeface="Cambria Math" panose="02040503050406030204" pitchFamily="18" charset="0"/>
                        <a:sym typeface="Symbol" panose="05050102010706020507" pitchFamily="18" charset="2"/>
                      </a:rPr>
                      <m:t>−</m:t>
                    </m:r>
                    <m:r>
                      <a:rPr lang="en-US" sz="2400" i="1">
                        <a:latin typeface="Cambria Math" panose="02040503050406030204" pitchFamily="18" charset="0"/>
                        <a:sym typeface="Symbol" panose="05050102010706020507" pitchFamily="18" charset="2"/>
                      </a:rPr>
                      <m:t>8</m:t>
                    </m:r>
                  </m:oMath>
                </a14:m>
                <a:r>
                  <a:rPr lang="en-US" sz="2400" dirty="0">
                    <a:sym typeface="Symbol" panose="05050102010706020507" pitchFamily="18" charset="2"/>
                  </a:rPr>
                  <a:t>)</a:t>
                </a:r>
              </a:p>
              <a:p>
                <a:endParaRPr lang="en-US" sz="2800" dirty="0">
                  <a:sym typeface="Symbol" panose="05050102010706020507" pitchFamily="18" charset="2"/>
                </a:endParaRPr>
              </a:p>
              <a:p>
                <a:r>
                  <a:rPr lang="en-US" sz="2800" dirty="0"/>
                  <a:t>Q3: Is there any detectable structure among cases based on disease characteristics?</a:t>
                </a:r>
                <a:endParaRPr lang="en-US" dirty="0"/>
              </a:p>
            </p:txBody>
          </p:sp>
        </mc:Choice>
        <mc:Fallback>
          <p:sp>
            <p:nvSpPr>
              <p:cNvPr id="3" name="Content Placeholder 2">
                <a:extLst>
                  <a:ext uri="{FF2B5EF4-FFF2-40B4-BE49-F238E27FC236}">
                    <a16:creationId xmlns:a16="http://schemas.microsoft.com/office/drawing/2014/main" id="{674D9D3A-EF46-44E8-BF57-70FF7CDF1D01}"/>
                  </a:ext>
                </a:extLst>
              </p:cNvPr>
              <p:cNvSpPr>
                <a:spLocks noGrp="1" noRot="1" noChangeAspect="1" noMove="1" noResize="1" noEditPoints="1" noAdjustHandles="1" noChangeArrowheads="1" noChangeShapeType="1" noTextEdit="1"/>
              </p:cNvSpPr>
              <p:nvPr>
                <p:ph idx="1"/>
              </p:nvPr>
            </p:nvSpPr>
            <p:spPr>
              <a:xfrm>
                <a:off x="517386" y="1751077"/>
                <a:ext cx="10943686" cy="4422527"/>
              </a:xfrm>
              <a:blipFill>
                <a:blip r:embed="rId2"/>
                <a:stretch>
                  <a:fillRect l="-446" t="-2755"/>
                </a:stretch>
              </a:blipFill>
            </p:spPr>
            <p:txBody>
              <a:bodyPr/>
              <a:lstStyle/>
              <a:p>
                <a:r>
                  <a:rPr lang="en-US">
                    <a:noFill/>
                  </a:rPr>
                  <a:t> </a:t>
                </a:r>
              </a:p>
            </p:txBody>
          </p:sp>
        </mc:Fallback>
      </mc:AlternateContent>
    </p:spTree>
    <p:extLst>
      <p:ext uri="{BB962C8B-B14F-4D97-AF65-F5344CB8AC3E}">
        <p14:creationId xmlns:p14="http://schemas.microsoft.com/office/powerpoint/2010/main" val="2542771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F3FC718-FDE3-4EF7-921E-A5F374EAF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E225FF-16D4-4D38-B1CE-E5898305D3BD}"/>
              </a:ext>
            </a:extLst>
          </p:cNvPr>
          <p:cNvSpPr>
            <a:spLocks noGrp="1"/>
          </p:cNvSpPr>
          <p:nvPr>
            <p:ph type="title"/>
          </p:nvPr>
        </p:nvSpPr>
        <p:spPr>
          <a:xfrm>
            <a:off x="643855" y="1447799"/>
            <a:ext cx="3108626" cy="1444752"/>
          </a:xfrm>
        </p:spPr>
        <p:txBody>
          <a:bodyPr anchor="b">
            <a:normAutofit/>
          </a:bodyPr>
          <a:lstStyle/>
          <a:p>
            <a:pPr>
              <a:lnSpc>
                <a:spcPct val="90000"/>
              </a:lnSpc>
            </a:pPr>
            <a:r>
              <a:rPr lang="en-US" sz="3200">
                <a:solidFill>
                  <a:srgbClr val="EBEBEB"/>
                </a:solidFill>
              </a:rPr>
              <a:t>Disease characteristics of interest</a:t>
            </a:r>
          </a:p>
        </p:txBody>
      </p:sp>
      <p:sp>
        <p:nvSpPr>
          <p:cNvPr id="11" name="Freeform 11">
            <a:extLst>
              <a:ext uri="{FF2B5EF4-FFF2-40B4-BE49-F238E27FC236}">
                <a16:creationId xmlns:a16="http://schemas.microsoft.com/office/drawing/2014/main" id="{FAA0F719-3DC8-4F08-AD8F-5A845658C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3" name="Freeform: Shape 12">
            <a:extLst>
              <a:ext uri="{FF2B5EF4-FFF2-40B4-BE49-F238E27FC236}">
                <a16:creationId xmlns:a16="http://schemas.microsoft.com/office/drawing/2014/main" id="{7DCB61BE-FA0F-4EFB-BE0E-268BAD8E3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4747655" y="-586345"/>
            <a:ext cx="6858001" cy="8030691"/>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sp>
      <p:sp>
        <p:nvSpPr>
          <p:cNvPr id="15" name="Rectangle 14">
            <a:extLst>
              <a:ext uri="{FF2B5EF4-FFF2-40B4-BE49-F238E27FC236}">
                <a16:creationId xmlns:a16="http://schemas.microsoft.com/office/drawing/2014/main" id="{A4B31EAA-7423-46F7-9B90-4AB2B09C3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FFF3BE50-4B1D-44C9-A074-E5503F8BEAA1}"/>
              </a:ext>
            </a:extLst>
          </p:cNvPr>
          <p:cNvSpPr>
            <a:spLocks noGrp="1"/>
          </p:cNvSpPr>
          <p:nvPr>
            <p:ph idx="1"/>
          </p:nvPr>
        </p:nvSpPr>
        <p:spPr>
          <a:xfrm>
            <a:off x="643855" y="3072385"/>
            <a:ext cx="3108057" cy="2947415"/>
          </a:xfrm>
        </p:spPr>
        <p:txBody>
          <a:bodyPr>
            <a:normAutofit/>
          </a:bodyPr>
          <a:lstStyle/>
          <a:p>
            <a:r>
              <a:rPr lang="en-US" sz="1400" dirty="0">
                <a:solidFill>
                  <a:srgbClr val="FFFFFF"/>
                </a:solidFill>
              </a:rPr>
              <a:t>Total percentage of skin depigmentation, in quantiles</a:t>
            </a:r>
          </a:p>
          <a:p>
            <a:r>
              <a:rPr lang="en-US" sz="1400" dirty="0">
                <a:solidFill>
                  <a:srgbClr val="FFFFFF"/>
                </a:solidFill>
              </a:rPr>
              <a:t>Age of onset</a:t>
            </a:r>
            <a:endParaRPr lang="en-US" sz="1400" dirty="0">
              <a:solidFill>
                <a:srgbClr val="FFFFFF"/>
              </a:solidFill>
              <a:sym typeface="Symbol" panose="05050102010706020507" pitchFamily="18" charset="2"/>
            </a:endParaRPr>
          </a:p>
          <a:p>
            <a:pPr marL="0" indent="0">
              <a:buNone/>
            </a:pPr>
            <a:endParaRPr lang="en-US" sz="1400" dirty="0">
              <a:solidFill>
                <a:srgbClr val="FFFFFF"/>
              </a:solidFill>
            </a:endParaRPr>
          </a:p>
        </p:txBody>
      </p:sp>
      <p:graphicFrame>
        <p:nvGraphicFramePr>
          <p:cNvPr id="4" name="Table 3">
            <a:extLst>
              <a:ext uri="{FF2B5EF4-FFF2-40B4-BE49-F238E27FC236}">
                <a16:creationId xmlns:a16="http://schemas.microsoft.com/office/drawing/2014/main" id="{CA12FE0B-4E6B-4FA7-AF50-8276A6AC0E8E}"/>
              </a:ext>
            </a:extLst>
          </p:cNvPr>
          <p:cNvGraphicFramePr>
            <a:graphicFrameLocks noGrp="1"/>
          </p:cNvGraphicFramePr>
          <p:nvPr>
            <p:extLst>
              <p:ext uri="{D42A27DB-BD31-4B8C-83A1-F6EECF244321}">
                <p14:modId xmlns:p14="http://schemas.microsoft.com/office/powerpoint/2010/main" val="4061042063"/>
              </p:ext>
            </p:extLst>
          </p:nvPr>
        </p:nvGraphicFramePr>
        <p:xfrm>
          <a:off x="4507582" y="1999709"/>
          <a:ext cx="7397528" cy="3419863"/>
        </p:xfrm>
        <a:graphic>
          <a:graphicData uri="http://schemas.openxmlformats.org/drawingml/2006/table">
            <a:tbl>
              <a:tblPr>
                <a:tableStyleId>{5C22544A-7EE6-4342-B048-85BDC9FD1C3A}</a:tableStyleId>
              </a:tblPr>
              <a:tblGrid>
                <a:gridCol w="1312501">
                  <a:extLst>
                    <a:ext uri="{9D8B030D-6E8A-4147-A177-3AD203B41FA5}">
                      <a16:colId xmlns:a16="http://schemas.microsoft.com/office/drawing/2014/main" val="233009336"/>
                    </a:ext>
                  </a:extLst>
                </a:gridCol>
                <a:gridCol w="743389">
                  <a:extLst>
                    <a:ext uri="{9D8B030D-6E8A-4147-A177-3AD203B41FA5}">
                      <a16:colId xmlns:a16="http://schemas.microsoft.com/office/drawing/2014/main" val="176021739"/>
                    </a:ext>
                  </a:extLst>
                </a:gridCol>
                <a:gridCol w="592256">
                  <a:extLst>
                    <a:ext uri="{9D8B030D-6E8A-4147-A177-3AD203B41FA5}">
                      <a16:colId xmlns:a16="http://schemas.microsoft.com/office/drawing/2014/main" val="1279462695"/>
                    </a:ext>
                  </a:extLst>
                </a:gridCol>
                <a:gridCol w="523773">
                  <a:extLst>
                    <a:ext uri="{9D8B030D-6E8A-4147-A177-3AD203B41FA5}">
                      <a16:colId xmlns:a16="http://schemas.microsoft.com/office/drawing/2014/main" val="3777343805"/>
                    </a:ext>
                  </a:extLst>
                </a:gridCol>
                <a:gridCol w="523773">
                  <a:extLst>
                    <a:ext uri="{9D8B030D-6E8A-4147-A177-3AD203B41FA5}">
                      <a16:colId xmlns:a16="http://schemas.microsoft.com/office/drawing/2014/main" val="4121864036"/>
                    </a:ext>
                  </a:extLst>
                </a:gridCol>
                <a:gridCol w="523773">
                  <a:extLst>
                    <a:ext uri="{9D8B030D-6E8A-4147-A177-3AD203B41FA5}">
                      <a16:colId xmlns:a16="http://schemas.microsoft.com/office/drawing/2014/main" val="4265026300"/>
                    </a:ext>
                  </a:extLst>
                </a:gridCol>
                <a:gridCol w="523773">
                  <a:extLst>
                    <a:ext uri="{9D8B030D-6E8A-4147-A177-3AD203B41FA5}">
                      <a16:colId xmlns:a16="http://schemas.microsoft.com/office/drawing/2014/main" val="2424880260"/>
                    </a:ext>
                  </a:extLst>
                </a:gridCol>
                <a:gridCol w="523773">
                  <a:extLst>
                    <a:ext uri="{9D8B030D-6E8A-4147-A177-3AD203B41FA5}">
                      <a16:colId xmlns:a16="http://schemas.microsoft.com/office/drawing/2014/main" val="300775228"/>
                    </a:ext>
                  </a:extLst>
                </a:gridCol>
                <a:gridCol w="424592">
                  <a:extLst>
                    <a:ext uri="{9D8B030D-6E8A-4147-A177-3AD203B41FA5}">
                      <a16:colId xmlns:a16="http://schemas.microsoft.com/office/drawing/2014/main" val="1218959504"/>
                    </a:ext>
                  </a:extLst>
                </a:gridCol>
                <a:gridCol w="424592">
                  <a:extLst>
                    <a:ext uri="{9D8B030D-6E8A-4147-A177-3AD203B41FA5}">
                      <a16:colId xmlns:a16="http://schemas.microsoft.com/office/drawing/2014/main" val="562906938"/>
                    </a:ext>
                  </a:extLst>
                </a:gridCol>
                <a:gridCol w="528497">
                  <a:extLst>
                    <a:ext uri="{9D8B030D-6E8A-4147-A177-3AD203B41FA5}">
                      <a16:colId xmlns:a16="http://schemas.microsoft.com/office/drawing/2014/main" val="2769318222"/>
                    </a:ext>
                  </a:extLst>
                </a:gridCol>
                <a:gridCol w="752836">
                  <a:extLst>
                    <a:ext uri="{9D8B030D-6E8A-4147-A177-3AD203B41FA5}">
                      <a16:colId xmlns:a16="http://schemas.microsoft.com/office/drawing/2014/main" val="1879656903"/>
                    </a:ext>
                  </a:extLst>
                </a:gridCol>
              </a:tblGrid>
              <a:tr h="291097">
                <a:tc>
                  <a:txBody>
                    <a:bodyPr/>
                    <a:lstStyle/>
                    <a:p>
                      <a:pPr algn="l" fontAlgn="b"/>
                      <a:r>
                        <a:rPr lang="en-US" sz="1400" u="none" strike="noStrike" dirty="0">
                          <a:effectLst/>
                        </a:rPr>
                        <a:t> </a:t>
                      </a:r>
                      <a:endParaRPr lang="en-US" sz="1400" b="0" i="0" u="none" strike="noStrike" dirty="0">
                        <a:solidFill>
                          <a:srgbClr val="000000"/>
                        </a:solidFill>
                        <a:effectLst/>
                        <a:latin typeface="Times New Roman" panose="02020603050405020304" pitchFamily="18" charset="0"/>
                      </a:endParaRPr>
                    </a:p>
                  </a:txBody>
                  <a:tcPr marL="9953" marR="9953" marT="9953" marB="0" anchor="b">
                    <a:solidFill>
                      <a:schemeClr val="accent1">
                        <a:lumMod val="75000"/>
                      </a:schemeClr>
                    </a:solidFill>
                  </a:tcPr>
                </a:tc>
                <a:tc>
                  <a:txBody>
                    <a:bodyPr/>
                    <a:lstStyle/>
                    <a:p>
                      <a:pPr algn="l" fontAlgn="b"/>
                      <a:r>
                        <a:rPr lang="en-US" sz="1400" u="none" strike="noStrike" dirty="0">
                          <a:effectLst/>
                        </a:rPr>
                        <a:t> </a:t>
                      </a:r>
                      <a:endParaRPr lang="en-US" sz="1400" b="0" i="0" u="none" strike="noStrike" dirty="0">
                        <a:solidFill>
                          <a:srgbClr val="000000"/>
                        </a:solidFill>
                        <a:effectLst/>
                        <a:latin typeface="Times New Roman" panose="02020603050405020304" pitchFamily="18" charset="0"/>
                      </a:endParaRPr>
                    </a:p>
                  </a:txBody>
                  <a:tcPr marL="9953" marR="9953" marT="9953" marB="0" anchor="b">
                    <a:solidFill>
                      <a:schemeClr val="accent1">
                        <a:lumMod val="75000"/>
                      </a:schemeClr>
                    </a:solidFill>
                  </a:tcPr>
                </a:tc>
                <a:tc gridSpan="10">
                  <a:txBody>
                    <a:bodyPr/>
                    <a:lstStyle/>
                    <a:p>
                      <a:pPr algn="ctr" fontAlgn="b"/>
                      <a:r>
                        <a:rPr lang="en-US" sz="1400" b="1" u="none" strike="noStrike" dirty="0">
                          <a:solidFill>
                            <a:schemeClr val="bg1"/>
                          </a:solidFill>
                          <a:effectLst/>
                        </a:rPr>
                        <a:t>Age of onset, banded</a:t>
                      </a:r>
                      <a:endParaRPr lang="en-US" sz="1400" b="1" i="0" u="none" strike="noStrike" dirty="0">
                        <a:solidFill>
                          <a:schemeClr val="bg1"/>
                        </a:solidFill>
                        <a:effectLst/>
                        <a:latin typeface="Times New Roman" panose="02020603050405020304" pitchFamily="18" charset="0"/>
                      </a:endParaRPr>
                    </a:p>
                  </a:txBody>
                  <a:tcPr marL="9953" marR="9953" marT="9953" marB="0" anchor="b">
                    <a:solidFill>
                      <a:schemeClr val="accent1">
                        <a:lumMod val="7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25600763"/>
                  </a:ext>
                </a:extLst>
              </a:tr>
              <a:tr h="521461">
                <a:tc>
                  <a:txBody>
                    <a:bodyPr/>
                    <a:lstStyle/>
                    <a:p>
                      <a:pPr algn="l" fontAlgn="b"/>
                      <a:r>
                        <a:rPr lang="en-US" sz="1400" u="none" strike="noStrike" dirty="0">
                          <a:effectLst/>
                        </a:rPr>
                        <a:t> </a:t>
                      </a:r>
                      <a:endParaRPr lang="en-US" sz="1400" b="0" i="0" u="none" strike="noStrike" dirty="0">
                        <a:solidFill>
                          <a:srgbClr val="000000"/>
                        </a:solidFill>
                        <a:effectLst/>
                        <a:latin typeface="Times New Roman" panose="02020603050405020304" pitchFamily="18" charset="0"/>
                      </a:endParaRPr>
                    </a:p>
                  </a:txBody>
                  <a:tcPr marL="9953" marR="9953" marT="9953" marB="0" anchor="b">
                    <a:solidFill>
                      <a:schemeClr val="accent1">
                        <a:lumMod val="75000"/>
                      </a:schemeClr>
                    </a:solidFill>
                  </a:tcPr>
                </a:tc>
                <a:tc>
                  <a:txBody>
                    <a:bodyPr/>
                    <a:lstStyle/>
                    <a:p>
                      <a:pPr algn="l" fontAlgn="b"/>
                      <a:r>
                        <a:rPr lang="en-US" sz="1400" b="1" u="none" strike="noStrike" dirty="0">
                          <a:effectLst/>
                        </a:rPr>
                        <a:t> </a:t>
                      </a:r>
                      <a:endParaRPr lang="en-US" sz="1400" b="1" i="0" u="none" strike="noStrike" dirty="0">
                        <a:solidFill>
                          <a:srgbClr val="000000"/>
                        </a:solidFill>
                        <a:effectLst/>
                        <a:latin typeface="Times New Roman" panose="02020603050405020304" pitchFamily="18" charset="0"/>
                      </a:endParaRPr>
                    </a:p>
                  </a:txBody>
                  <a:tcPr marL="9953" marR="9953" marT="9953" marB="0" anchor="b">
                    <a:solidFill>
                      <a:schemeClr val="accent1">
                        <a:lumMod val="20000"/>
                        <a:lumOff val="80000"/>
                      </a:schemeClr>
                    </a:solidFill>
                  </a:tcPr>
                </a:tc>
                <a:tc>
                  <a:txBody>
                    <a:bodyPr/>
                    <a:lstStyle/>
                    <a:p>
                      <a:pPr algn="ctr" fontAlgn="b"/>
                      <a:r>
                        <a:rPr lang="en-US" sz="1400" b="1" u="none" strike="noStrike" dirty="0">
                          <a:effectLst/>
                        </a:rPr>
                        <a:t>0-10</a:t>
                      </a:r>
                      <a:endParaRPr lang="en-US" sz="1400" b="1" i="0" u="none" strike="noStrike" dirty="0">
                        <a:solidFill>
                          <a:srgbClr val="000000"/>
                        </a:solidFill>
                        <a:effectLst/>
                        <a:latin typeface="Times New Roman" panose="02020603050405020304" pitchFamily="18" charset="0"/>
                      </a:endParaRPr>
                    </a:p>
                  </a:txBody>
                  <a:tcPr marL="9953" marR="9953" marT="9953" marB="0" anchor="b">
                    <a:solidFill>
                      <a:schemeClr val="accent1">
                        <a:lumMod val="20000"/>
                        <a:lumOff val="80000"/>
                      </a:schemeClr>
                    </a:solidFill>
                  </a:tcPr>
                </a:tc>
                <a:tc>
                  <a:txBody>
                    <a:bodyPr/>
                    <a:lstStyle/>
                    <a:p>
                      <a:pPr algn="ctr" fontAlgn="b"/>
                      <a:r>
                        <a:rPr lang="en-US" sz="1400" b="1" u="none" strike="noStrike" dirty="0">
                          <a:effectLst/>
                        </a:rPr>
                        <a:t>10-21</a:t>
                      </a:r>
                      <a:endParaRPr lang="en-US" sz="1400" b="1" i="0" u="none" strike="noStrike" dirty="0">
                        <a:solidFill>
                          <a:srgbClr val="000000"/>
                        </a:solidFill>
                        <a:effectLst/>
                        <a:latin typeface="Times New Roman" panose="02020603050405020304" pitchFamily="18" charset="0"/>
                      </a:endParaRPr>
                    </a:p>
                  </a:txBody>
                  <a:tcPr marL="9953" marR="9953" marT="9953" marB="0" anchor="b">
                    <a:solidFill>
                      <a:schemeClr val="accent1">
                        <a:lumMod val="20000"/>
                        <a:lumOff val="80000"/>
                      </a:schemeClr>
                    </a:solidFill>
                  </a:tcPr>
                </a:tc>
                <a:tc>
                  <a:txBody>
                    <a:bodyPr/>
                    <a:lstStyle/>
                    <a:p>
                      <a:pPr algn="ctr" fontAlgn="b"/>
                      <a:r>
                        <a:rPr lang="en-US" sz="1400" b="1" u="none" strike="noStrike" dirty="0">
                          <a:effectLst/>
                        </a:rPr>
                        <a:t>21-30</a:t>
                      </a:r>
                      <a:endParaRPr lang="en-US" sz="1400" b="1" i="0" u="none" strike="noStrike" dirty="0">
                        <a:solidFill>
                          <a:srgbClr val="000000"/>
                        </a:solidFill>
                        <a:effectLst/>
                        <a:latin typeface="Times New Roman" panose="02020603050405020304" pitchFamily="18" charset="0"/>
                      </a:endParaRPr>
                    </a:p>
                  </a:txBody>
                  <a:tcPr marL="9953" marR="9953" marT="9953" marB="0" anchor="b">
                    <a:solidFill>
                      <a:schemeClr val="accent1">
                        <a:lumMod val="20000"/>
                        <a:lumOff val="80000"/>
                      </a:schemeClr>
                    </a:solidFill>
                  </a:tcPr>
                </a:tc>
                <a:tc>
                  <a:txBody>
                    <a:bodyPr/>
                    <a:lstStyle/>
                    <a:p>
                      <a:pPr algn="ctr" fontAlgn="b"/>
                      <a:r>
                        <a:rPr lang="en-US" sz="1400" b="1" u="none" strike="noStrike" dirty="0">
                          <a:effectLst/>
                        </a:rPr>
                        <a:t>31-40</a:t>
                      </a:r>
                      <a:endParaRPr lang="en-US" sz="1400" b="1" i="0" u="none" strike="noStrike" dirty="0">
                        <a:solidFill>
                          <a:srgbClr val="000000"/>
                        </a:solidFill>
                        <a:effectLst/>
                        <a:latin typeface="Times New Roman" panose="02020603050405020304" pitchFamily="18" charset="0"/>
                      </a:endParaRPr>
                    </a:p>
                  </a:txBody>
                  <a:tcPr marL="9953" marR="9953" marT="9953" marB="0" anchor="b">
                    <a:solidFill>
                      <a:schemeClr val="accent1">
                        <a:lumMod val="20000"/>
                        <a:lumOff val="80000"/>
                      </a:schemeClr>
                    </a:solidFill>
                  </a:tcPr>
                </a:tc>
                <a:tc>
                  <a:txBody>
                    <a:bodyPr/>
                    <a:lstStyle/>
                    <a:p>
                      <a:pPr algn="ctr" fontAlgn="b"/>
                      <a:r>
                        <a:rPr lang="en-US" sz="1400" b="1" u="none" strike="noStrike" dirty="0">
                          <a:effectLst/>
                        </a:rPr>
                        <a:t>41-50</a:t>
                      </a:r>
                      <a:endParaRPr lang="en-US" sz="1400" b="1" i="0" u="none" strike="noStrike" dirty="0">
                        <a:solidFill>
                          <a:srgbClr val="000000"/>
                        </a:solidFill>
                        <a:effectLst/>
                        <a:latin typeface="Times New Roman" panose="02020603050405020304" pitchFamily="18" charset="0"/>
                      </a:endParaRPr>
                    </a:p>
                  </a:txBody>
                  <a:tcPr marL="9953" marR="9953" marT="9953" marB="0" anchor="b">
                    <a:solidFill>
                      <a:schemeClr val="accent1">
                        <a:lumMod val="20000"/>
                        <a:lumOff val="80000"/>
                      </a:schemeClr>
                    </a:solidFill>
                  </a:tcPr>
                </a:tc>
                <a:tc>
                  <a:txBody>
                    <a:bodyPr/>
                    <a:lstStyle/>
                    <a:p>
                      <a:pPr algn="ctr" fontAlgn="b"/>
                      <a:r>
                        <a:rPr lang="en-US" sz="1400" b="1" u="none" strike="noStrike" dirty="0">
                          <a:effectLst/>
                        </a:rPr>
                        <a:t>51-60</a:t>
                      </a:r>
                      <a:endParaRPr lang="en-US" sz="1400" b="1" i="0" u="none" strike="noStrike" dirty="0">
                        <a:solidFill>
                          <a:srgbClr val="000000"/>
                        </a:solidFill>
                        <a:effectLst/>
                        <a:latin typeface="Times New Roman" panose="02020603050405020304" pitchFamily="18" charset="0"/>
                      </a:endParaRPr>
                    </a:p>
                  </a:txBody>
                  <a:tcPr marL="9953" marR="9953" marT="9953" marB="0" anchor="b">
                    <a:solidFill>
                      <a:schemeClr val="accent1">
                        <a:lumMod val="20000"/>
                        <a:lumOff val="80000"/>
                      </a:schemeClr>
                    </a:solidFill>
                  </a:tcPr>
                </a:tc>
                <a:tc>
                  <a:txBody>
                    <a:bodyPr/>
                    <a:lstStyle/>
                    <a:p>
                      <a:pPr algn="ctr" fontAlgn="b"/>
                      <a:r>
                        <a:rPr lang="en-US" sz="1400" b="1" u="none" strike="noStrike" dirty="0">
                          <a:effectLst/>
                        </a:rPr>
                        <a:t>61-70</a:t>
                      </a:r>
                      <a:endParaRPr lang="en-US" sz="1400" b="1" i="0" u="none" strike="noStrike" dirty="0">
                        <a:solidFill>
                          <a:srgbClr val="000000"/>
                        </a:solidFill>
                        <a:effectLst/>
                        <a:latin typeface="Times New Roman" panose="02020603050405020304" pitchFamily="18" charset="0"/>
                      </a:endParaRPr>
                    </a:p>
                  </a:txBody>
                  <a:tcPr marL="9953" marR="9953" marT="9953" marB="0" anchor="b">
                    <a:solidFill>
                      <a:schemeClr val="accent1">
                        <a:lumMod val="20000"/>
                        <a:lumOff val="80000"/>
                      </a:schemeClr>
                    </a:solidFill>
                  </a:tcPr>
                </a:tc>
                <a:tc>
                  <a:txBody>
                    <a:bodyPr/>
                    <a:lstStyle/>
                    <a:p>
                      <a:pPr algn="ctr" fontAlgn="b"/>
                      <a:r>
                        <a:rPr lang="en-US" sz="1400" b="1" u="none" strike="noStrike" dirty="0">
                          <a:effectLst/>
                        </a:rPr>
                        <a:t>71-80</a:t>
                      </a:r>
                      <a:endParaRPr lang="en-US" sz="1400" b="1" i="0" u="none" strike="noStrike" dirty="0">
                        <a:solidFill>
                          <a:srgbClr val="000000"/>
                        </a:solidFill>
                        <a:effectLst/>
                        <a:latin typeface="Times New Roman" panose="02020603050405020304" pitchFamily="18" charset="0"/>
                      </a:endParaRPr>
                    </a:p>
                  </a:txBody>
                  <a:tcPr marL="9953" marR="9953" marT="9953" marB="0" anchor="b">
                    <a:solidFill>
                      <a:schemeClr val="accent1">
                        <a:lumMod val="20000"/>
                        <a:lumOff val="80000"/>
                      </a:schemeClr>
                    </a:solidFill>
                  </a:tcPr>
                </a:tc>
                <a:tc>
                  <a:txBody>
                    <a:bodyPr/>
                    <a:lstStyle/>
                    <a:p>
                      <a:pPr algn="ctr" fontAlgn="b"/>
                      <a:r>
                        <a:rPr lang="en-US" sz="1400" b="1" u="none" strike="noStrike" dirty="0">
                          <a:effectLst/>
                        </a:rPr>
                        <a:t>80+</a:t>
                      </a:r>
                      <a:endParaRPr lang="en-US" sz="1400" b="1" i="0" u="none" strike="noStrike" dirty="0">
                        <a:solidFill>
                          <a:srgbClr val="000000"/>
                        </a:solidFill>
                        <a:effectLst/>
                        <a:latin typeface="Times New Roman" panose="02020603050405020304" pitchFamily="18" charset="0"/>
                      </a:endParaRPr>
                    </a:p>
                  </a:txBody>
                  <a:tcPr marL="9953" marR="9953" marT="9953" marB="0" anchor="b">
                    <a:solidFill>
                      <a:schemeClr val="accent1">
                        <a:lumMod val="20000"/>
                        <a:lumOff val="80000"/>
                      </a:schemeClr>
                    </a:solidFill>
                  </a:tcPr>
                </a:tc>
                <a:tc>
                  <a:txBody>
                    <a:bodyPr/>
                    <a:lstStyle/>
                    <a:p>
                      <a:pPr algn="ctr" fontAlgn="b"/>
                      <a:r>
                        <a:rPr lang="en-US" sz="1400" b="1" u="none" strike="noStrike" dirty="0">
                          <a:effectLst/>
                        </a:rPr>
                        <a:t>Totals</a:t>
                      </a:r>
                      <a:endParaRPr lang="en-US" sz="1400" b="1" i="0" u="none" strike="noStrike" dirty="0">
                        <a:solidFill>
                          <a:srgbClr val="000000"/>
                        </a:solidFill>
                        <a:effectLst/>
                        <a:latin typeface="Times New Roman" panose="02020603050405020304" pitchFamily="18" charset="0"/>
                      </a:endParaRPr>
                    </a:p>
                  </a:txBody>
                  <a:tcPr marL="9953" marR="9953" marT="9953" marB="0" anchor="b">
                    <a:solidFill>
                      <a:schemeClr val="accent1">
                        <a:lumMod val="20000"/>
                        <a:lumOff val="80000"/>
                      </a:schemeClr>
                    </a:solidFill>
                  </a:tcPr>
                </a:tc>
                <a:extLst>
                  <a:ext uri="{0D108BD9-81ED-4DB2-BD59-A6C34878D82A}">
                    <a16:rowId xmlns:a16="http://schemas.microsoft.com/office/drawing/2014/main" val="3978848747"/>
                  </a:ext>
                </a:extLst>
              </a:tr>
              <a:tr h="521461">
                <a:tc rowSpan="5">
                  <a:txBody>
                    <a:bodyPr/>
                    <a:lstStyle/>
                    <a:p>
                      <a:pPr algn="ctr" fontAlgn="ctr"/>
                      <a:r>
                        <a:rPr lang="en-US" sz="1400" b="1" u="none" strike="noStrike" dirty="0">
                          <a:solidFill>
                            <a:schemeClr val="bg1"/>
                          </a:solidFill>
                          <a:effectLst/>
                        </a:rPr>
                        <a:t>Skin coverage, in quantiles</a:t>
                      </a:r>
                      <a:endParaRPr lang="en-US" sz="1400" b="1" i="0" u="none" strike="noStrike" dirty="0">
                        <a:solidFill>
                          <a:schemeClr val="bg1"/>
                        </a:solidFill>
                        <a:effectLst/>
                        <a:latin typeface="Times New Roman" panose="02020603050405020304" pitchFamily="18" charset="0"/>
                      </a:endParaRPr>
                    </a:p>
                  </a:txBody>
                  <a:tcPr marL="9953" marR="9953" marT="9953" marB="0" anchor="ctr">
                    <a:solidFill>
                      <a:schemeClr val="accent1">
                        <a:lumMod val="75000"/>
                      </a:schemeClr>
                    </a:solidFill>
                  </a:tcPr>
                </a:tc>
                <a:tc>
                  <a:txBody>
                    <a:bodyPr/>
                    <a:lstStyle/>
                    <a:p>
                      <a:pPr algn="l" fontAlgn="b"/>
                      <a:r>
                        <a:rPr lang="en-US" sz="1400" b="1" u="none" strike="noStrike" dirty="0">
                          <a:effectLst/>
                        </a:rPr>
                        <a:t>up to 25%</a:t>
                      </a:r>
                      <a:endParaRPr lang="en-US" sz="1400" b="1" i="0" u="none" strike="noStrike" dirty="0">
                        <a:solidFill>
                          <a:srgbClr val="000000"/>
                        </a:solidFill>
                        <a:effectLst/>
                        <a:latin typeface="Times New Roman" panose="02020603050405020304" pitchFamily="18" charset="0"/>
                      </a:endParaRPr>
                    </a:p>
                  </a:txBody>
                  <a:tcPr marL="9953" marR="9953" marT="9953" marB="0" anchor="b">
                    <a:solidFill>
                      <a:schemeClr val="accent1">
                        <a:lumMod val="20000"/>
                        <a:lumOff val="80000"/>
                      </a:schemeClr>
                    </a:solidFill>
                  </a:tcPr>
                </a:tc>
                <a:tc>
                  <a:txBody>
                    <a:bodyPr/>
                    <a:lstStyle/>
                    <a:p>
                      <a:pPr algn="r" fontAlgn="b"/>
                      <a:r>
                        <a:rPr lang="en-US" sz="1400" u="none" strike="noStrike">
                          <a:effectLst/>
                        </a:rPr>
                        <a:t>251</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283</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273</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250</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136</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84</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30</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2</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0</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l" fontAlgn="b"/>
                      <a:r>
                        <a:rPr lang="en-US" sz="1400" u="none" strike="noStrike">
                          <a:effectLst/>
                        </a:rPr>
                        <a:t>     1,309 </a:t>
                      </a:r>
                      <a:endParaRPr lang="en-US" sz="1400" b="0" i="0" u="none" strike="noStrike">
                        <a:solidFill>
                          <a:srgbClr val="000000"/>
                        </a:solidFill>
                        <a:effectLst/>
                        <a:latin typeface="Times New Roman" panose="02020603050405020304" pitchFamily="18" charset="0"/>
                      </a:endParaRPr>
                    </a:p>
                  </a:txBody>
                  <a:tcPr marL="9953" marR="9953" marT="9953" marB="0" anchor="b"/>
                </a:tc>
                <a:extLst>
                  <a:ext uri="{0D108BD9-81ED-4DB2-BD59-A6C34878D82A}">
                    <a16:rowId xmlns:a16="http://schemas.microsoft.com/office/drawing/2014/main" val="1644774403"/>
                  </a:ext>
                </a:extLst>
              </a:tr>
              <a:tr h="521461">
                <a:tc vMerge="1">
                  <a:txBody>
                    <a:bodyPr/>
                    <a:lstStyle/>
                    <a:p>
                      <a:endParaRPr lang="en-US"/>
                    </a:p>
                  </a:txBody>
                  <a:tcPr/>
                </a:tc>
                <a:tc>
                  <a:txBody>
                    <a:bodyPr/>
                    <a:lstStyle/>
                    <a:p>
                      <a:pPr algn="l" fontAlgn="b"/>
                      <a:r>
                        <a:rPr lang="en-US" sz="1400" b="1" u="none" strike="noStrike">
                          <a:effectLst/>
                        </a:rPr>
                        <a:t>26-50%</a:t>
                      </a:r>
                      <a:endParaRPr lang="en-US" sz="1400" b="1" i="0" u="none" strike="noStrike">
                        <a:solidFill>
                          <a:srgbClr val="000000"/>
                        </a:solidFill>
                        <a:effectLst/>
                        <a:latin typeface="Times New Roman" panose="02020603050405020304" pitchFamily="18" charset="0"/>
                      </a:endParaRPr>
                    </a:p>
                  </a:txBody>
                  <a:tcPr marL="9953" marR="9953" marT="9953" marB="0" anchor="b">
                    <a:solidFill>
                      <a:schemeClr val="accent1">
                        <a:lumMod val="20000"/>
                        <a:lumOff val="80000"/>
                      </a:schemeClr>
                    </a:solidFill>
                  </a:tcPr>
                </a:tc>
                <a:tc>
                  <a:txBody>
                    <a:bodyPr/>
                    <a:lstStyle/>
                    <a:p>
                      <a:pPr algn="r" fontAlgn="b"/>
                      <a:r>
                        <a:rPr lang="en-US" sz="1400" u="none" strike="noStrike">
                          <a:effectLst/>
                        </a:rPr>
                        <a:t>103</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97</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66</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62</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31</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17</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7</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0</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0</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l" fontAlgn="b"/>
                      <a:r>
                        <a:rPr lang="en-US" sz="1400" u="none" strike="noStrike">
                          <a:effectLst/>
                        </a:rPr>
                        <a:t>        383 </a:t>
                      </a:r>
                      <a:endParaRPr lang="en-US" sz="1400" b="0" i="0" u="none" strike="noStrike">
                        <a:solidFill>
                          <a:srgbClr val="000000"/>
                        </a:solidFill>
                        <a:effectLst/>
                        <a:latin typeface="Times New Roman" panose="02020603050405020304" pitchFamily="18" charset="0"/>
                      </a:endParaRPr>
                    </a:p>
                  </a:txBody>
                  <a:tcPr marL="9953" marR="9953" marT="9953" marB="0" anchor="b"/>
                </a:tc>
                <a:extLst>
                  <a:ext uri="{0D108BD9-81ED-4DB2-BD59-A6C34878D82A}">
                    <a16:rowId xmlns:a16="http://schemas.microsoft.com/office/drawing/2014/main" val="3771398430"/>
                  </a:ext>
                </a:extLst>
              </a:tr>
              <a:tr h="521461">
                <a:tc vMerge="1">
                  <a:txBody>
                    <a:bodyPr/>
                    <a:lstStyle/>
                    <a:p>
                      <a:endParaRPr lang="en-US"/>
                    </a:p>
                  </a:txBody>
                  <a:tcPr/>
                </a:tc>
                <a:tc>
                  <a:txBody>
                    <a:bodyPr/>
                    <a:lstStyle/>
                    <a:p>
                      <a:pPr algn="l" fontAlgn="b"/>
                      <a:r>
                        <a:rPr lang="en-US" sz="1400" b="1" u="none" strike="noStrike" dirty="0">
                          <a:effectLst/>
                        </a:rPr>
                        <a:t>51-75%</a:t>
                      </a:r>
                      <a:endParaRPr lang="en-US" sz="1400" b="1" i="0" u="none" strike="noStrike" dirty="0">
                        <a:solidFill>
                          <a:srgbClr val="000000"/>
                        </a:solidFill>
                        <a:effectLst/>
                        <a:latin typeface="Times New Roman" panose="02020603050405020304" pitchFamily="18" charset="0"/>
                      </a:endParaRPr>
                    </a:p>
                  </a:txBody>
                  <a:tcPr marL="9953" marR="9953" marT="9953" marB="0" anchor="b">
                    <a:solidFill>
                      <a:schemeClr val="accent1">
                        <a:lumMod val="20000"/>
                        <a:lumOff val="80000"/>
                      </a:schemeClr>
                    </a:solidFill>
                  </a:tcPr>
                </a:tc>
                <a:tc>
                  <a:txBody>
                    <a:bodyPr/>
                    <a:lstStyle/>
                    <a:p>
                      <a:pPr algn="r" fontAlgn="b"/>
                      <a:r>
                        <a:rPr lang="en-US" sz="1400" u="none" strike="noStrike">
                          <a:effectLst/>
                        </a:rPr>
                        <a:t>37</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53</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29</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21</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11</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6</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dirty="0">
                          <a:effectLst/>
                        </a:rPr>
                        <a:t>2</a:t>
                      </a:r>
                      <a:endParaRPr lang="en-US" sz="1400" b="0" i="0" u="none" strike="noStrike" dirty="0">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0</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0</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l" fontAlgn="b"/>
                      <a:r>
                        <a:rPr lang="en-US" sz="1400" u="none" strike="noStrike">
                          <a:effectLst/>
                        </a:rPr>
                        <a:t>        159 </a:t>
                      </a:r>
                      <a:endParaRPr lang="en-US" sz="1400" b="0" i="0" u="none" strike="noStrike">
                        <a:solidFill>
                          <a:srgbClr val="000000"/>
                        </a:solidFill>
                        <a:effectLst/>
                        <a:latin typeface="Times New Roman" panose="02020603050405020304" pitchFamily="18" charset="0"/>
                      </a:endParaRPr>
                    </a:p>
                  </a:txBody>
                  <a:tcPr marL="9953" marR="9953" marT="9953" marB="0" anchor="b"/>
                </a:tc>
                <a:extLst>
                  <a:ext uri="{0D108BD9-81ED-4DB2-BD59-A6C34878D82A}">
                    <a16:rowId xmlns:a16="http://schemas.microsoft.com/office/drawing/2014/main" val="2793026542"/>
                  </a:ext>
                </a:extLst>
              </a:tr>
              <a:tr h="521461">
                <a:tc vMerge="1">
                  <a:txBody>
                    <a:bodyPr/>
                    <a:lstStyle/>
                    <a:p>
                      <a:endParaRPr lang="en-US"/>
                    </a:p>
                  </a:txBody>
                  <a:tcPr/>
                </a:tc>
                <a:tc>
                  <a:txBody>
                    <a:bodyPr/>
                    <a:lstStyle/>
                    <a:p>
                      <a:pPr algn="l" fontAlgn="b"/>
                      <a:r>
                        <a:rPr lang="en-US" sz="1400" b="1" u="none" strike="noStrike" dirty="0">
                          <a:effectLst/>
                        </a:rPr>
                        <a:t>76-100%</a:t>
                      </a:r>
                      <a:endParaRPr lang="en-US" sz="1400" b="1" i="0" u="none" strike="noStrike" dirty="0">
                        <a:solidFill>
                          <a:srgbClr val="000000"/>
                        </a:solidFill>
                        <a:effectLst/>
                        <a:latin typeface="Times New Roman" panose="02020603050405020304" pitchFamily="18" charset="0"/>
                      </a:endParaRPr>
                    </a:p>
                  </a:txBody>
                  <a:tcPr marL="9953" marR="9953" marT="9953" marB="0" anchor="b">
                    <a:solidFill>
                      <a:schemeClr val="accent1">
                        <a:lumMod val="20000"/>
                        <a:lumOff val="80000"/>
                      </a:schemeClr>
                    </a:solidFill>
                  </a:tcPr>
                </a:tc>
                <a:tc>
                  <a:txBody>
                    <a:bodyPr/>
                    <a:lstStyle/>
                    <a:p>
                      <a:pPr algn="r" fontAlgn="b"/>
                      <a:r>
                        <a:rPr lang="en-US" sz="1400" u="none" strike="noStrike">
                          <a:effectLst/>
                        </a:rPr>
                        <a:t>39</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38</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15</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13</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11</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6</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0</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0</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0</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l" fontAlgn="b"/>
                      <a:r>
                        <a:rPr lang="en-US" sz="1400" u="none" strike="noStrike">
                          <a:effectLst/>
                        </a:rPr>
                        <a:t>        122 </a:t>
                      </a:r>
                      <a:endParaRPr lang="en-US" sz="1400" b="0" i="0" u="none" strike="noStrike">
                        <a:solidFill>
                          <a:srgbClr val="000000"/>
                        </a:solidFill>
                        <a:effectLst/>
                        <a:latin typeface="Times New Roman" panose="02020603050405020304" pitchFamily="18" charset="0"/>
                      </a:endParaRPr>
                    </a:p>
                  </a:txBody>
                  <a:tcPr marL="9953" marR="9953" marT="9953" marB="0" anchor="b"/>
                </a:tc>
                <a:extLst>
                  <a:ext uri="{0D108BD9-81ED-4DB2-BD59-A6C34878D82A}">
                    <a16:rowId xmlns:a16="http://schemas.microsoft.com/office/drawing/2014/main" val="2799297470"/>
                  </a:ext>
                </a:extLst>
              </a:tr>
              <a:tr h="521461">
                <a:tc vMerge="1">
                  <a:txBody>
                    <a:bodyPr/>
                    <a:lstStyle/>
                    <a:p>
                      <a:endParaRPr lang="en-US"/>
                    </a:p>
                  </a:txBody>
                  <a:tcPr/>
                </a:tc>
                <a:tc>
                  <a:txBody>
                    <a:bodyPr/>
                    <a:lstStyle/>
                    <a:p>
                      <a:pPr algn="l" fontAlgn="b"/>
                      <a:r>
                        <a:rPr lang="en-US" sz="1400" b="1" u="none" strike="noStrike" dirty="0">
                          <a:effectLst/>
                        </a:rPr>
                        <a:t>Totals</a:t>
                      </a:r>
                      <a:endParaRPr lang="en-US" sz="1400" b="1" i="0" u="none" strike="noStrike" dirty="0">
                        <a:solidFill>
                          <a:srgbClr val="000000"/>
                        </a:solidFill>
                        <a:effectLst/>
                        <a:latin typeface="Times New Roman" panose="02020603050405020304" pitchFamily="18" charset="0"/>
                      </a:endParaRPr>
                    </a:p>
                  </a:txBody>
                  <a:tcPr marL="9953" marR="9953" marT="9953" marB="0" anchor="b">
                    <a:solidFill>
                      <a:schemeClr val="accent1">
                        <a:lumMod val="20000"/>
                        <a:lumOff val="80000"/>
                      </a:schemeClr>
                    </a:solidFill>
                  </a:tcPr>
                </a:tc>
                <a:tc>
                  <a:txBody>
                    <a:bodyPr/>
                    <a:lstStyle/>
                    <a:p>
                      <a:pPr algn="r" fontAlgn="b"/>
                      <a:r>
                        <a:rPr lang="en-US" sz="1400" u="none" strike="noStrike">
                          <a:effectLst/>
                        </a:rPr>
                        <a:t>430</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471</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383</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346</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189</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113</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39</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dirty="0">
                          <a:effectLst/>
                        </a:rPr>
                        <a:t>2</a:t>
                      </a:r>
                      <a:endParaRPr lang="en-US" sz="1400" b="0" i="0" u="none" strike="noStrike" dirty="0">
                        <a:solidFill>
                          <a:srgbClr val="000000"/>
                        </a:solidFill>
                        <a:effectLst/>
                        <a:latin typeface="Times New Roman" panose="02020603050405020304" pitchFamily="18" charset="0"/>
                      </a:endParaRPr>
                    </a:p>
                  </a:txBody>
                  <a:tcPr marL="9953" marR="9953" marT="9953" marB="0" anchor="b"/>
                </a:tc>
                <a:tc>
                  <a:txBody>
                    <a:bodyPr/>
                    <a:lstStyle/>
                    <a:p>
                      <a:pPr algn="r" fontAlgn="b"/>
                      <a:r>
                        <a:rPr lang="en-US" sz="1400" u="none" strike="noStrike">
                          <a:effectLst/>
                        </a:rPr>
                        <a:t>0</a:t>
                      </a:r>
                      <a:endParaRPr lang="en-US" sz="1400" b="0" i="0" u="none" strike="noStrike">
                        <a:solidFill>
                          <a:srgbClr val="000000"/>
                        </a:solidFill>
                        <a:effectLst/>
                        <a:latin typeface="Times New Roman" panose="02020603050405020304" pitchFamily="18" charset="0"/>
                      </a:endParaRPr>
                    </a:p>
                  </a:txBody>
                  <a:tcPr marL="9953" marR="9953" marT="9953" marB="0" anchor="b"/>
                </a:tc>
                <a:tc>
                  <a:txBody>
                    <a:bodyPr/>
                    <a:lstStyle/>
                    <a:p>
                      <a:pPr algn="l" fontAlgn="b"/>
                      <a:r>
                        <a:rPr lang="en-US" sz="1400" u="none" strike="noStrike" dirty="0">
                          <a:effectLst/>
                        </a:rPr>
                        <a:t>     1,973 </a:t>
                      </a:r>
                      <a:endParaRPr lang="en-US" sz="1400" b="0" i="0" u="none" strike="noStrike" dirty="0">
                        <a:solidFill>
                          <a:srgbClr val="000000"/>
                        </a:solidFill>
                        <a:effectLst/>
                        <a:latin typeface="Times New Roman" panose="02020603050405020304" pitchFamily="18" charset="0"/>
                      </a:endParaRPr>
                    </a:p>
                  </a:txBody>
                  <a:tcPr marL="9953" marR="9953" marT="9953" marB="0" anchor="b"/>
                </a:tc>
                <a:extLst>
                  <a:ext uri="{0D108BD9-81ED-4DB2-BD59-A6C34878D82A}">
                    <a16:rowId xmlns:a16="http://schemas.microsoft.com/office/drawing/2014/main" val="2486111057"/>
                  </a:ext>
                </a:extLst>
              </a:tr>
            </a:tbl>
          </a:graphicData>
        </a:graphic>
      </p:graphicFrame>
    </p:spTree>
    <p:extLst>
      <p:ext uri="{BB962C8B-B14F-4D97-AF65-F5344CB8AC3E}">
        <p14:creationId xmlns:p14="http://schemas.microsoft.com/office/powerpoint/2010/main" val="3041821194"/>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79A26-E88D-4772-A9E2-029D58E94C11}"/>
              </a:ext>
            </a:extLst>
          </p:cNvPr>
          <p:cNvSpPr>
            <a:spLocks noGrp="1"/>
          </p:cNvSpPr>
          <p:nvPr>
            <p:ph type="title"/>
          </p:nvPr>
        </p:nvSpPr>
        <p:spPr/>
        <p:txBody>
          <a:bodyPr/>
          <a:lstStyle/>
          <a:p>
            <a:r>
              <a:rPr lang="en-US" dirty="0"/>
              <a:t>Q1 Models</a:t>
            </a:r>
          </a:p>
        </p:txBody>
      </p:sp>
      <p:sp>
        <p:nvSpPr>
          <p:cNvPr id="3" name="Content Placeholder 2">
            <a:extLst>
              <a:ext uri="{FF2B5EF4-FFF2-40B4-BE49-F238E27FC236}">
                <a16:creationId xmlns:a16="http://schemas.microsoft.com/office/drawing/2014/main" id="{0D01B20C-DCDB-4493-869B-D2DABCA7ED8F}"/>
              </a:ext>
            </a:extLst>
          </p:cNvPr>
          <p:cNvSpPr>
            <a:spLocks noGrp="1"/>
          </p:cNvSpPr>
          <p:nvPr>
            <p:ph idx="1"/>
          </p:nvPr>
        </p:nvSpPr>
        <p:spPr/>
        <p:txBody>
          <a:bodyPr/>
          <a:lstStyle/>
          <a:p>
            <a:r>
              <a:rPr lang="en-US" sz="2800" dirty="0"/>
              <a:t>Age of onset is reported in continuous values</a:t>
            </a:r>
          </a:p>
          <a:p>
            <a:pPr lvl="1"/>
            <a:r>
              <a:rPr lang="en-US" sz="2400" dirty="0"/>
              <a:t>Linear regression was used</a:t>
            </a:r>
          </a:p>
          <a:p>
            <a:pPr lvl="1"/>
            <a:endParaRPr lang="en-US" sz="2400" dirty="0"/>
          </a:p>
          <a:p>
            <a:r>
              <a:rPr lang="en-US" sz="2800" dirty="0"/>
              <a:t>Skin coverage reported in categorical quantiles</a:t>
            </a:r>
          </a:p>
          <a:p>
            <a:pPr lvl="1"/>
            <a:r>
              <a:rPr lang="en-US" sz="2400" dirty="0"/>
              <a:t>Multinomial logistic regression</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973647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D70B4-8342-4594-9611-E51892DD938E}"/>
              </a:ext>
            </a:extLst>
          </p:cNvPr>
          <p:cNvSpPr>
            <a:spLocks noGrp="1"/>
          </p:cNvSpPr>
          <p:nvPr>
            <p:ph type="title"/>
          </p:nvPr>
        </p:nvSpPr>
        <p:spPr/>
        <p:txBody>
          <a:bodyPr/>
          <a:lstStyle/>
          <a:p>
            <a:r>
              <a:rPr lang="en-US" dirty="0"/>
              <a:t>Accounting for Genetic Covariates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3875B7-F8A4-42D6-A21B-A11A83E36B56}"/>
                  </a:ext>
                </a:extLst>
              </p:cNvPr>
              <p:cNvSpPr>
                <a:spLocks noGrp="1"/>
              </p:cNvSpPr>
              <p:nvPr>
                <p:ph idx="1"/>
              </p:nvPr>
            </p:nvSpPr>
            <p:spPr>
              <a:xfrm>
                <a:off x="1103312" y="1688841"/>
                <a:ext cx="8946541" cy="5010539"/>
              </a:xfrm>
            </p:spPr>
            <p:txBody>
              <a:bodyPr>
                <a:normAutofit fontScale="92500" lnSpcReduction="20000"/>
              </a:bodyPr>
              <a:lstStyle/>
              <a:p>
                <a:r>
                  <a:rPr lang="en-US" dirty="0"/>
                  <a:t>Genetic covariates presented in the data as 45 distinct genetic principal components</a:t>
                </a:r>
              </a:p>
              <a:p>
                <a:endParaRPr lang="en-US" dirty="0"/>
              </a:p>
              <a:p>
                <a:r>
                  <a:rPr lang="en-US" dirty="0"/>
                  <a:t>Each PC was added as the sole predictor in a regression for the two disease characteristics &amp; compared against the null model </a:t>
                </a:r>
              </a:p>
              <a:p>
                <a:pPr lvl="1"/>
                <a:endParaRPr lang="en-US" dirty="0"/>
              </a:p>
              <a:p>
                <a:r>
                  <a:rPr lang="en-US" dirty="0"/>
                  <a:t>Hypothesis used to determine importance</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ea typeface="Calibri" panose="020F0502020204030204" pitchFamily="34" charset="0"/>
                              <a:cs typeface="Times New Roman" panose="02020603050405020304" pitchFamily="18" charset="0"/>
                            </a:rPr>
                          </m:ctrlPr>
                        </m:sSubPr>
                        <m:e>
                          <m:r>
                            <a:rPr lang="en-US" i="1">
                              <a:latin typeface="Cambria Math" panose="02040503050406030204" pitchFamily="18" charset="0"/>
                              <a:ea typeface="Calibri" panose="020F0502020204030204" pitchFamily="34" charset="0"/>
                              <a:cs typeface="Times New Roman" panose="02020603050405020304" pitchFamily="18" charset="0"/>
                            </a:rPr>
                            <m:t>𝐻</m:t>
                          </m:r>
                        </m:e>
                        <m:sub>
                          <m:r>
                            <a:rPr lang="en-US" i="1">
                              <a:latin typeface="Cambria Math" panose="02040503050406030204" pitchFamily="18" charset="0"/>
                              <a:ea typeface="Calibri" panose="020F0502020204030204" pitchFamily="34" charset="0"/>
                              <a:cs typeface="Times New Roman" panose="02020603050405020304" pitchFamily="18" charset="0"/>
                            </a:rPr>
                            <m:t>0</m:t>
                          </m:r>
                        </m:sub>
                      </m:sSub>
                      <m:r>
                        <a:rPr lang="en-US" i="1">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latin typeface="Cambria Math" panose="02040503050406030204" pitchFamily="18" charset="0"/>
                              <a:ea typeface="Times New Roman" panose="02020603050405020304" pitchFamily="18" charset="0"/>
                              <a:cs typeface="Times New Roman" panose="02020603050405020304" pitchFamily="18" charset="0"/>
                            </a:rPr>
                            <m:t>𝛽</m:t>
                          </m:r>
                        </m:e>
                        <m:sub>
                          <m:r>
                            <a:rPr lang="en-US" i="1">
                              <a:latin typeface="Cambria Math" panose="02040503050406030204" pitchFamily="18" charset="0"/>
                              <a:ea typeface="Times New Roman" panose="02020603050405020304" pitchFamily="18" charset="0"/>
                              <a:cs typeface="Times New Roman" panose="02020603050405020304" pitchFamily="18" charset="0"/>
                            </a:rPr>
                            <m:t>1</m:t>
                          </m:r>
                        </m:sub>
                      </m:sSub>
                      <m:r>
                        <a:rPr lang="en-US" i="1">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en-US" i="1" dirty="0">
                  <a:latin typeface="Cambria Math" panose="02040503050406030204" pitchFamily="18" charset="0"/>
                  <a:ea typeface="Times New Roman" panose="02020603050405020304" pitchFamily="18" charset="0"/>
                  <a:cs typeface="Times New Roman" panose="02020603050405020304" pitchFamily="18" charset="0"/>
                </a:endParaRPr>
              </a:p>
              <a:p>
                <a:pPr marL="0" marR="0" indent="0">
                  <a:lnSpc>
                    <a:spcPct val="200000"/>
                  </a:lnSpc>
                  <a:spcBef>
                    <a:spcPts val="0"/>
                  </a:spcBef>
                  <a:spcAft>
                    <a:spcPts val="800"/>
                  </a:spcAft>
                  <a:buNone/>
                </a:pPr>
                <a14:m>
                  <m:oMathPara xmlns:m="http://schemas.openxmlformats.org/officeDocument/2006/math">
                    <m:oMathParaPr>
                      <m:jc m:val="center"/>
                    </m:oMathParaPr>
                    <m:oMath xmlns:m="http://schemas.openxmlformats.org/officeDocument/2006/math">
                      <m:sSub>
                        <m:sSubPr>
                          <m:ctrlPr>
                            <a:rPr lang="en-US" i="1">
                              <a:latin typeface="Cambria Math" panose="02040503050406030204" pitchFamily="18" charset="0"/>
                              <a:ea typeface="Calibri" panose="020F0502020204030204" pitchFamily="34" charset="0"/>
                              <a:cs typeface="Times New Roman" panose="02020603050405020304" pitchFamily="18" charset="0"/>
                            </a:rPr>
                          </m:ctrlPr>
                        </m:sSubPr>
                        <m:e>
                          <m:r>
                            <a:rPr lang="en-US" i="1">
                              <a:latin typeface="Cambria Math" panose="02040503050406030204" pitchFamily="18" charset="0"/>
                              <a:ea typeface="Calibri" panose="020F0502020204030204" pitchFamily="34" charset="0"/>
                              <a:cs typeface="Times New Roman" panose="02020603050405020304" pitchFamily="18" charset="0"/>
                            </a:rPr>
                            <m:t>𝐻</m:t>
                          </m:r>
                        </m:e>
                        <m:sub>
                          <m:r>
                            <a:rPr lang="en-US" i="1">
                              <a:latin typeface="Cambria Math" panose="02040503050406030204" pitchFamily="18" charset="0"/>
                              <a:ea typeface="Calibri" panose="020F0502020204030204" pitchFamily="34" charset="0"/>
                              <a:cs typeface="Times New Roman" panose="02020603050405020304" pitchFamily="18" charset="0"/>
                            </a:rPr>
                            <m:t>𝑎</m:t>
                          </m:r>
                        </m:sub>
                      </m:sSub>
                      <m:r>
                        <a:rPr lang="en-US" i="1">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latin typeface="Cambria Math" panose="02040503050406030204" pitchFamily="18" charset="0"/>
                              <a:ea typeface="Calibri" panose="020F0502020204030204" pitchFamily="34" charset="0"/>
                              <a:cs typeface="Times New Roman" panose="02020603050405020304" pitchFamily="18" charset="0"/>
                            </a:rPr>
                          </m:ctrlPr>
                        </m:sSubPr>
                        <m:e>
                          <m:r>
                            <a:rPr lang="en-US" i="1">
                              <a:latin typeface="Cambria Math" panose="02040503050406030204" pitchFamily="18" charset="0"/>
                              <a:ea typeface="Calibri" panose="020F0502020204030204" pitchFamily="34" charset="0"/>
                              <a:cs typeface="Times New Roman" panose="02020603050405020304" pitchFamily="18" charset="0"/>
                            </a:rPr>
                            <m:t>𝛽</m:t>
                          </m:r>
                        </m:e>
                        <m:sub>
                          <m:r>
                            <a:rPr lang="en-US" i="1">
                              <a:latin typeface="Cambria Math" panose="02040503050406030204" pitchFamily="18" charset="0"/>
                              <a:ea typeface="Calibri" panose="020F0502020204030204" pitchFamily="34" charset="0"/>
                              <a:cs typeface="Times New Roman" panose="02020603050405020304" pitchFamily="18" charset="0"/>
                            </a:rPr>
                            <m:t>1</m:t>
                          </m:r>
                        </m:sub>
                      </m:sSub>
                      <m:r>
                        <a:rPr lang="en-US" i="1">
                          <a:latin typeface="Cambria Math" panose="02040503050406030204" pitchFamily="18" charset="0"/>
                          <a:ea typeface="Calibri" panose="020F0502020204030204" pitchFamily="34" charset="0"/>
                          <a:cs typeface="Times New Roman" panose="02020603050405020304" pitchFamily="18" charset="0"/>
                        </a:rPr>
                        <m:t>≠0</m:t>
                      </m:r>
                    </m:oMath>
                  </m:oMathPara>
                </a14:m>
                <a:endParaRPr lang="en-US" dirty="0"/>
              </a:p>
              <a:p>
                <a:pPr lvl="2">
                  <a:buFont typeface="Wingdings" panose="05000000000000000000" pitchFamily="2" charset="2"/>
                  <a:buChar char="q"/>
                </a:pPr>
                <a:r>
                  <a:rPr lang="en-US" b="1" dirty="0"/>
                  <a:t>ANOVA</a:t>
                </a:r>
                <a:r>
                  <a:rPr lang="en-US" dirty="0"/>
                  <a:t> for age of onset, </a:t>
                </a:r>
                <a:r>
                  <a:rPr lang="en-US" b="1" dirty="0"/>
                  <a:t>chi-squared</a:t>
                </a:r>
                <a:r>
                  <a:rPr lang="en-US" dirty="0"/>
                  <a:t> for skin coverage</a:t>
                </a:r>
              </a:p>
              <a:p>
                <a:pPr lvl="2">
                  <a:buFont typeface="Wingdings" panose="05000000000000000000" pitchFamily="2" charset="2"/>
                  <a:buChar char="q"/>
                </a:pPr>
                <a:r>
                  <a:rPr lang="en-US" dirty="0"/>
                  <a:t>FWER correction of </a:t>
                </a:r>
                <a14:m>
                  <m:oMath xmlns:m="http://schemas.openxmlformats.org/officeDocument/2006/math">
                    <m:r>
                      <a:rPr lang="en-US" i="1">
                        <a:latin typeface="Cambria Math" panose="02040503050406030204" pitchFamily="18" charset="0"/>
                        <a:ea typeface="Times New Roman" panose="02020603050405020304" pitchFamily="18" charset="0"/>
                        <a:cs typeface="Times New Roman" panose="02020603050405020304" pitchFamily="18" charset="0"/>
                      </a:rPr>
                      <m:t>𝛼</m:t>
                    </m:r>
                    <m:r>
                      <a:rPr lang="en-US" i="1">
                        <a:latin typeface="Cambria Math" panose="02040503050406030204" pitchFamily="18" charset="0"/>
                        <a:ea typeface="Times New Roman" panose="02020603050405020304" pitchFamily="18" charset="0"/>
                        <a:cs typeface="Times New Roman" panose="02020603050405020304" pitchFamily="18" charset="0"/>
                      </a:rPr>
                      <m:t>=0.10/45</m:t>
                    </m:r>
                  </m:oMath>
                </a14:m>
                <a:endParaRPr lang="en-US" dirty="0"/>
              </a:p>
              <a:p>
                <a:pPr lvl="2"/>
                <a:endParaRPr lang="en-US" dirty="0"/>
              </a:p>
              <a:p>
                <a:r>
                  <a:rPr lang="en-US" dirty="0"/>
                  <a:t>Zero of the 45 genetic principal components proved statistically significant for either characteristic </a:t>
                </a:r>
              </a:p>
            </p:txBody>
          </p:sp>
        </mc:Choice>
        <mc:Fallback xmlns="">
          <p:sp>
            <p:nvSpPr>
              <p:cNvPr id="3" name="Content Placeholder 2">
                <a:extLst>
                  <a:ext uri="{FF2B5EF4-FFF2-40B4-BE49-F238E27FC236}">
                    <a16:creationId xmlns:a16="http://schemas.microsoft.com/office/drawing/2014/main" id="{8F3875B7-F8A4-42D6-A21B-A11A83E36B56}"/>
                  </a:ext>
                </a:extLst>
              </p:cNvPr>
              <p:cNvSpPr>
                <a:spLocks noGrp="1" noRot="1" noChangeAspect="1" noMove="1" noResize="1" noEditPoints="1" noAdjustHandles="1" noChangeArrowheads="1" noChangeShapeType="1" noTextEdit="1"/>
              </p:cNvSpPr>
              <p:nvPr>
                <p:ph idx="1"/>
              </p:nvPr>
            </p:nvSpPr>
            <p:spPr>
              <a:xfrm>
                <a:off x="1103312" y="1688841"/>
                <a:ext cx="8946541" cy="5010539"/>
              </a:xfrm>
              <a:blipFill>
                <a:blip r:embed="rId3"/>
                <a:stretch>
                  <a:fillRect l="-272" t="-1825"/>
                </a:stretch>
              </a:blipFill>
            </p:spPr>
            <p:txBody>
              <a:bodyPr/>
              <a:lstStyle/>
              <a:p>
                <a:r>
                  <a:rPr lang="en-US">
                    <a:noFill/>
                  </a:rPr>
                  <a:t> </a:t>
                </a:r>
              </a:p>
            </p:txBody>
          </p:sp>
        </mc:Fallback>
      </mc:AlternateContent>
    </p:spTree>
    <p:extLst>
      <p:ext uri="{BB962C8B-B14F-4D97-AF65-F5344CB8AC3E}">
        <p14:creationId xmlns:p14="http://schemas.microsoft.com/office/powerpoint/2010/main" val="1418484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DCD4-E2F7-4E36-B35E-036DA3B5EC49}"/>
              </a:ext>
            </a:extLst>
          </p:cNvPr>
          <p:cNvSpPr>
            <a:spLocks noGrp="1"/>
          </p:cNvSpPr>
          <p:nvPr>
            <p:ph type="title"/>
          </p:nvPr>
        </p:nvSpPr>
        <p:spPr/>
        <p:txBody>
          <a:bodyPr/>
          <a:lstStyle/>
          <a:p>
            <a:r>
              <a:rPr lang="en-US" dirty="0"/>
              <a:t>Q1 Genetic Variants – Age of Onset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5F1778-92E5-4833-B7CA-EB48A7606932}"/>
                  </a:ext>
                </a:extLst>
              </p:cNvPr>
              <p:cNvSpPr>
                <a:spLocks noGrp="1"/>
              </p:cNvSpPr>
              <p:nvPr>
                <p:ph idx="1"/>
              </p:nvPr>
            </p:nvSpPr>
            <p:spPr>
              <a:xfrm>
                <a:off x="1103312" y="1922289"/>
                <a:ext cx="8946541" cy="4739768"/>
              </a:xfrm>
            </p:spPr>
            <p:txBody>
              <a:bodyPr>
                <a:normAutofit fontScale="47500" lnSpcReduction="20000"/>
              </a:bodyPr>
              <a:lstStyle/>
              <a:p>
                <a:r>
                  <a:rPr lang="en-US" sz="4000" dirty="0"/>
                  <a:t>Ran 46 different linear regressions with age of onset as response &amp; one predictor</a:t>
                </a:r>
              </a:p>
              <a:p>
                <a:pPr lvl="2">
                  <a:buFont typeface="Wingdings" panose="05000000000000000000" pitchFamily="2" charset="2"/>
                  <a:buChar char="q"/>
                </a:pPr>
                <a:r>
                  <a:rPr lang="en-US" sz="3000" dirty="0"/>
                  <a:t> </a:t>
                </a:r>
                <a14:m>
                  <m:oMath xmlns:m="http://schemas.openxmlformats.org/officeDocument/2006/math">
                    <m:r>
                      <a:rPr lang="en-US" sz="3000" i="1">
                        <a:latin typeface="Cambria Math" panose="02040503050406030204" pitchFamily="18" charset="0"/>
                        <a:ea typeface="Calibri" panose="020F0502020204030204" pitchFamily="34" charset="0"/>
                        <a:cs typeface="Times New Roman" panose="02020603050405020304" pitchFamily="18" charset="0"/>
                      </a:rPr>
                      <m:t>𝐸</m:t>
                    </m:r>
                    <m:d>
                      <m:dPr>
                        <m:ctrlPr>
                          <a:rPr lang="en-US" sz="3000" i="1">
                            <a:latin typeface="Cambria Math" panose="02040503050406030204" pitchFamily="18" charset="0"/>
                            <a:ea typeface="Calibri" panose="020F0502020204030204" pitchFamily="34" charset="0"/>
                            <a:cs typeface="Times New Roman" panose="02020603050405020304" pitchFamily="18" charset="0"/>
                          </a:rPr>
                        </m:ctrlPr>
                      </m:dPr>
                      <m:e>
                        <m:r>
                          <a:rPr lang="en-US" sz="3000" i="1">
                            <a:latin typeface="Cambria Math" panose="02040503050406030204" pitchFamily="18" charset="0"/>
                            <a:ea typeface="Calibri" panose="020F0502020204030204" pitchFamily="34" charset="0"/>
                            <a:cs typeface="Times New Roman" panose="02020603050405020304" pitchFamily="18" charset="0"/>
                          </a:rPr>
                          <m:t>𝑎𝑔𝑒</m:t>
                        </m:r>
                        <m:r>
                          <a:rPr lang="en-US" sz="3000" i="1">
                            <a:latin typeface="Cambria Math" panose="02040503050406030204" pitchFamily="18" charset="0"/>
                            <a:ea typeface="Calibri" panose="020F0502020204030204" pitchFamily="34" charset="0"/>
                            <a:cs typeface="Times New Roman" panose="02020603050405020304" pitchFamily="18" charset="0"/>
                          </a:rPr>
                          <m:t>_</m:t>
                        </m:r>
                        <m:r>
                          <a:rPr lang="en-US" sz="3000" i="1">
                            <a:latin typeface="Cambria Math" panose="02040503050406030204" pitchFamily="18" charset="0"/>
                            <a:ea typeface="Calibri" panose="020F0502020204030204" pitchFamily="34" charset="0"/>
                            <a:cs typeface="Times New Roman" panose="02020603050405020304" pitchFamily="18" charset="0"/>
                          </a:rPr>
                          <m:t>𝑜𝑛𝑠𝑒𝑡</m:t>
                        </m:r>
                      </m:e>
                    </m:d>
                    <m:r>
                      <a:rPr lang="en-US" sz="3000" i="1">
                        <a:latin typeface="Cambria Math" panose="02040503050406030204" pitchFamily="18" charset="0"/>
                        <a:ea typeface="Calibri" panose="020F0502020204030204" pitchFamily="34" charset="0"/>
                        <a:cs typeface="Times New Roman" panose="02020603050405020304" pitchFamily="18" charset="0"/>
                      </a:rPr>
                      <m:t>=</m:t>
                    </m:r>
                    <m:sSub>
                      <m:sSubPr>
                        <m:ctrlPr>
                          <a:rPr lang="en-US" sz="3000" i="1">
                            <a:latin typeface="Cambria Math" panose="02040503050406030204" pitchFamily="18" charset="0"/>
                            <a:ea typeface="Calibri" panose="020F0502020204030204" pitchFamily="34" charset="0"/>
                            <a:cs typeface="Times New Roman" panose="02020603050405020304" pitchFamily="18" charset="0"/>
                          </a:rPr>
                        </m:ctrlPr>
                      </m:sSubPr>
                      <m:e>
                        <m:r>
                          <a:rPr lang="en-US" sz="3000" i="1">
                            <a:latin typeface="Cambria Math" panose="02040503050406030204" pitchFamily="18" charset="0"/>
                            <a:ea typeface="Calibri" panose="020F0502020204030204" pitchFamily="34" charset="0"/>
                            <a:cs typeface="Times New Roman" panose="02020603050405020304" pitchFamily="18" charset="0"/>
                          </a:rPr>
                          <m:t>𝛽</m:t>
                        </m:r>
                      </m:e>
                      <m:sub>
                        <m:r>
                          <a:rPr lang="en-US" sz="3000" i="1">
                            <a:latin typeface="Cambria Math" panose="02040503050406030204" pitchFamily="18" charset="0"/>
                            <a:ea typeface="Calibri" panose="020F0502020204030204" pitchFamily="34" charset="0"/>
                            <a:cs typeface="Times New Roman" panose="02020603050405020304" pitchFamily="18" charset="0"/>
                          </a:rPr>
                          <m:t>0</m:t>
                        </m:r>
                      </m:sub>
                    </m:sSub>
                    <m:r>
                      <a:rPr lang="en-US" sz="3000" i="1">
                        <a:latin typeface="Cambria Math" panose="02040503050406030204" pitchFamily="18" charset="0"/>
                        <a:ea typeface="Calibri" panose="020F0502020204030204" pitchFamily="34" charset="0"/>
                        <a:cs typeface="Times New Roman" panose="02020603050405020304" pitchFamily="18" charset="0"/>
                      </a:rPr>
                      <m:t>+</m:t>
                    </m:r>
                    <m:sSub>
                      <m:sSubPr>
                        <m:ctrlPr>
                          <a:rPr lang="en-US" sz="3000" i="1">
                            <a:latin typeface="Cambria Math" panose="02040503050406030204" pitchFamily="18" charset="0"/>
                            <a:ea typeface="Calibri" panose="020F0502020204030204" pitchFamily="34" charset="0"/>
                            <a:cs typeface="Times New Roman" panose="02020603050405020304" pitchFamily="18" charset="0"/>
                          </a:rPr>
                        </m:ctrlPr>
                      </m:sSubPr>
                      <m:e>
                        <m:r>
                          <a:rPr lang="en-US" sz="3000" i="1">
                            <a:latin typeface="Cambria Math" panose="02040503050406030204" pitchFamily="18" charset="0"/>
                            <a:ea typeface="Calibri" panose="020F0502020204030204" pitchFamily="34" charset="0"/>
                            <a:cs typeface="Times New Roman" panose="02020603050405020304" pitchFamily="18" charset="0"/>
                          </a:rPr>
                          <m:t>𝛽</m:t>
                        </m:r>
                      </m:e>
                      <m:sub>
                        <m:r>
                          <a:rPr lang="en-US" sz="3000" i="1">
                            <a:latin typeface="Cambria Math" panose="02040503050406030204" pitchFamily="18" charset="0"/>
                            <a:ea typeface="Calibri" panose="020F0502020204030204" pitchFamily="34" charset="0"/>
                            <a:cs typeface="Times New Roman" panose="02020603050405020304" pitchFamily="18" charset="0"/>
                          </a:rPr>
                          <m:t>1</m:t>
                        </m:r>
                      </m:sub>
                    </m:sSub>
                    <m:r>
                      <a:rPr lang="en-US" sz="3000" i="1">
                        <a:latin typeface="Cambria Math" panose="02040503050406030204" pitchFamily="18" charset="0"/>
                        <a:ea typeface="Calibri" panose="020F0502020204030204" pitchFamily="34" charset="0"/>
                        <a:cs typeface="Times New Roman" panose="02020603050405020304" pitchFamily="18" charset="0"/>
                      </a:rPr>
                      <m:t>∗</m:t>
                    </m:r>
                    <m:r>
                      <a:rPr lang="en-US" sz="3000" i="1">
                        <a:latin typeface="Cambria Math" panose="02040503050406030204" pitchFamily="18" charset="0"/>
                        <a:ea typeface="Calibri" panose="020F0502020204030204" pitchFamily="34" charset="0"/>
                        <a:cs typeface="Times New Roman" panose="02020603050405020304" pitchFamily="18" charset="0"/>
                      </a:rPr>
                      <m:t>𝑔𝑒𝑛𝑒𝑡𝑖𝑐</m:t>
                    </m:r>
                    <m:r>
                      <a:rPr lang="en-US" sz="3000" i="1">
                        <a:latin typeface="Cambria Math" panose="02040503050406030204" pitchFamily="18" charset="0"/>
                        <a:ea typeface="Calibri" panose="020F0502020204030204" pitchFamily="34" charset="0"/>
                        <a:cs typeface="Times New Roman" panose="02020603050405020304" pitchFamily="18" charset="0"/>
                      </a:rPr>
                      <m:t>_</m:t>
                    </m:r>
                    <m:r>
                      <a:rPr lang="en-US" sz="3000" i="1">
                        <a:latin typeface="Cambria Math" panose="02040503050406030204" pitchFamily="18" charset="0"/>
                        <a:ea typeface="Calibri" panose="020F0502020204030204" pitchFamily="34" charset="0"/>
                        <a:cs typeface="Times New Roman" panose="02020603050405020304" pitchFamily="18" charset="0"/>
                      </a:rPr>
                      <m:t>𝑣𝑎𝑟𝑖𝑎𝑛𝑡</m:t>
                    </m:r>
                  </m:oMath>
                </a14:m>
                <a:endParaRPr lang="en-US" sz="3000" dirty="0">
                  <a:ea typeface="Calibri" panose="020F0502020204030204" pitchFamily="34" charset="0"/>
                  <a:cs typeface="Times New Roman" panose="02020603050405020304" pitchFamily="18" charset="0"/>
                </a:endParaRPr>
              </a:p>
              <a:p>
                <a:pPr lvl="1"/>
                <a:endParaRPr lang="en-US" sz="4000" dirty="0"/>
              </a:p>
              <a:p>
                <a:r>
                  <a:rPr lang="en-US" sz="4000" dirty="0"/>
                  <a:t>ANOVA tests were performed</a:t>
                </a:r>
              </a:p>
              <a:p>
                <a:pPr marL="0" marR="0" indent="0">
                  <a:lnSpc>
                    <a:spcPct val="200000"/>
                  </a:lnSpc>
                  <a:spcBef>
                    <a:spcPts val="0"/>
                  </a:spcBef>
                  <a:spcAft>
                    <a:spcPts val="800"/>
                  </a:spcAft>
                  <a:buNone/>
                </a:pPr>
                <a14:m>
                  <m:oMathPara xmlns:m="http://schemas.openxmlformats.org/officeDocument/2006/math">
                    <m:oMathParaPr>
                      <m:jc m:val="centerGroup"/>
                    </m:oMathParaPr>
                    <m:oMath xmlns:m="http://schemas.openxmlformats.org/officeDocument/2006/math">
                      <m:sSub>
                        <m:sSubPr>
                          <m:ctrlPr>
                            <a:rPr lang="en-US" sz="4000" i="1">
                              <a:latin typeface="Cambria Math" panose="02040503050406030204" pitchFamily="18" charset="0"/>
                              <a:ea typeface="Calibri" panose="020F0502020204030204" pitchFamily="34" charset="0"/>
                              <a:cs typeface="Times New Roman" panose="02020603050405020304" pitchFamily="18" charset="0"/>
                            </a:rPr>
                          </m:ctrlPr>
                        </m:sSubPr>
                        <m:e>
                          <m:r>
                            <a:rPr lang="en-US" sz="4000" i="1">
                              <a:latin typeface="Cambria Math" panose="02040503050406030204" pitchFamily="18" charset="0"/>
                              <a:ea typeface="Calibri" panose="020F0502020204030204" pitchFamily="34" charset="0"/>
                              <a:cs typeface="Times New Roman" panose="02020603050405020304" pitchFamily="18" charset="0"/>
                            </a:rPr>
                            <m:t>𝐻</m:t>
                          </m:r>
                        </m:e>
                        <m:sub>
                          <m:r>
                            <a:rPr lang="en-US" sz="4000" i="1">
                              <a:latin typeface="Cambria Math" panose="02040503050406030204" pitchFamily="18" charset="0"/>
                              <a:ea typeface="Calibri" panose="020F0502020204030204" pitchFamily="34" charset="0"/>
                              <a:cs typeface="Times New Roman" panose="02020603050405020304" pitchFamily="18" charset="0"/>
                            </a:rPr>
                            <m:t>0</m:t>
                          </m:r>
                        </m:sub>
                      </m:sSub>
                      <m:r>
                        <a:rPr lang="en-US" sz="4000" i="1">
                          <a:latin typeface="Cambria Math" panose="02040503050406030204" pitchFamily="18" charset="0"/>
                          <a:ea typeface="Calibri" panose="020F0502020204030204" pitchFamily="34" charset="0"/>
                          <a:cs typeface="Times New Roman" panose="02020603050405020304" pitchFamily="18" charset="0"/>
                        </a:rPr>
                        <m:t>:</m:t>
                      </m:r>
                      <m:sSub>
                        <m:sSubPr>
                          <m:ctrlPr>
                            <a:rPr lang="en-US" sz="4000"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4000" i="1">
                              <a:latin typeface="Cambria Math" panose="02040503050406030204" pitchFamily="18" charset="0"/>
                              <a:ea typeface="Times New Roman" panose="02020603050405020304" pitchFamily="18" charset="0"/>
                              <a:cs typeface="Times New Roman" panose="02020603050405020304" pitchFamily="18" charset="0"/>
                            </a:rPr>
                            <m:t>𝛽</m:t>
                          </m:r>
                        </m:e>
                        <m:sub>
                          <m:r>
                            <a:rPr lang="en-US" sz="4000" i="1">
                              <a:latin typeface="Cambria Math" panose="02040503050406030204" pitchFamily="18" charset="0"/>
                              <a:ea typeface="Times New Roman" panose="02020603050405020304" pitchFamily="18" charset="0"/>
                              <a:cs typeface="Times New Roman" panose="02020603050405020304" pitchFamily="18" charset="0"/>
                            </a:rPr>
                            <m:t>1</m:t>
                          </m:r>
                        </m:sub>
                      </m:sSub>
                      <m:r>
                        <a:rPr lang="en-US" sz="4000" i="1">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en-US" sz="4000" dirty="0">
                  <a:ea typeface="Calibri" panose="020F0502020204030204" pitchFamily="34" charset="0"/>
                  <a:cs typeface="Times New Roman" panose="02020603050405020304" pitchFamily="18" charset="0"/>
                </a:endParaRPr>
              </a:p>
              <a:p>
                <a:pPr marL="0" marR="0" indent="0">
                  <a:lnSpc>
                    <a:spcPct val="200000"/>
                  </a:lnSpc>
                  <a:spcBef>
                    <a:spcPts val="0"/>
                  </a:spcBef>
                  <a:spcAft>
                    <a:spcPts val="800"/>
                  </a:spcAft>
                  <a:buNone/>
                </a:pPr>
                <a14:m>
                  <m:oMathPara xmlns:m="http://schemas.openxmlformats.org/officeDocument/2006/math">
                    <m:oMathParaPr>
                      <m:jc m:val="centerGroup"/>
                    </m:oMathParaPr>
                    <m:oMath xmlns:m="http://schemas.openxmlformats.org/officeDocument/2006/math">
                      <m:sSub>
                        <m:sSubPr>
                          <m:ctrlPr>
                            <a:rPr lang="en-US" sz="4000" i="1">
                              <a:latin typeface="Cambria Math" panose="02040503050406030204" pitchFamily="18" charset="0"/>
                              <a:ea typeface="Calibri" panose="020F0502020204030204" pitchFamily="34" charset="0"/>
                              <a:cs typeface="Times New Roman" panose="02020603050405020304" pitchFamily="18" charset="0"/>
                            </a:rPr>
                          </m:ctrlPr>
                        </m:sSubPr>
                        <m:e>
                          <m:r>
                            <a:rPr lang="en-US" sz="4000" i="1">
                              <a:latin typeface="Cambria Math" panose="02040503050406030204" pitchFamily="18" charset="0"/>
                              <a:ea typeface="Calibri" panose="020F0502020204030204" pitchFamily="34" charset="0"/>
                              <a:cs typeface="Times New Roman" panose="02020603050405020304" pitchFamily="18" charset="0"/>
                            </a:rPr>
                            <m:t>𝐻</m:t>
                          </m:r>
                        </m:e>
                        <m:sub>
                          <m:r>
                            <a:rPr lang="en-US" sz="4000" i="1">
                              <a:latin typeface="Cambria Math" panose="02040503050406030204" pitchFamily="18" charset="0"/>
                              <a:ea typeface="Calibri" panose="020F0502020204030204" pitchFamily="34" charset="0"/>
                              <a:cs typeface="Times New Roman" panose="02020603050405020304" pitchFamily="18" charset="0"/>
                            </a:rPr>
                            <m:t>𝑎</m:t>
                          </m:r>
                        </m:sub>
                      </m:sSub>
                      <m:r>
                        <a:rPr lang="en-US" sz="4000" i="1">
                          <a:latin typeface="Cambria Math" panose="02040503050406030204" pitchFamily="18" charset="0"/>
                          <a:ea typeface="Calibri" panose="020F0502020204030204" pitchFamily="34" charset="0"/>
                          <a:cs typeface="Times New Roman" panose="02020603050405020304" pitchFamily="18" charset="0"/>
                        </a:rPr>
                        <m:t>:</m:t>
                      </m:r>
                      <m:sSub>
                        <m:sSubPr>
                          <m:ctrlPr>
                            <a:rPr lang="en-US" sz="4000" i="1">
                              <a:latin typeface="Cambria Math" panose="02040503050406030204" pitchFamily="18" charset="0"/>
                              <a:ea typeface="Calibri" panose="020F0502020204030204" pitchFamily="34" charset="0"/>
                              <a:cs typeface="Times New Roman" panose="02020603050405020304" pitchFamily="18" charset="0"/>
                            </a:rPr>
                          </m:ctrlPr>
                        </m:sSubPr>
                        <m:e>
                          <m:r>
                            <a:rPr lang="en-US" sz="4000" i="1">
                              <a:latin typeface="Cambria Math" panose="02040503050406030204" pitchFamily="18" charset="0"/>
                              <a:ea typeface="Calibri" panose="020F0502020204030204" pitchFamily="34" charset="0"/>
                              <a:cs typeface="Times New Roman" panose="02020603050405020304" pitchFamily="18" charset="0"/>
                            </a:rPr>
                            <m:t>𝛽</m:t>
                          </m:r>
                        </m:e>
                        <m:sub>
                          <m:r>
                            <a:rPr lang="en-US" sz="4000" i="1">
                              <a:latin typeface="Cambria Math" panose="02040503050406030204" pitchFamily="18" charset="0"/>
                              <a:ea typeface="Calibri" panose="020F0502020204030204" pitchFamily="34" charset="0"/>
                              <a:cs typeface="Times New Roman" panose="02020603050405020304" pitchFamily="18" charset="0"/>
                            </a:rPr>
                            <m:t>1</m:t>
                          </m:r>
                        </m:sub>
                      </m:sSub>
                      <m:r>
                        <a:rPr lang="en-US" sz="4000" i="1">
                          <a:latin typeface="Cambria Math" panose="02040503050406030204" pitchFamily="18" charset="0"/>
                          <a:ea typeface="Calibri" panose="020F0502020204030204" pitchFamily="34" charset="0"/>
                          <a:cs typeface="Times New Roman" panose="02020603050405020304" pitchFamily="18" charset="0"/>
                        </a:rPr>
                        <m:t>≠0</m:t>
                      </m:r>
                    </m:oMath>
                  </m:oMathPara>
                </a14:m>
                <a:endParaRPr lang="en-US" sz="4000" dirty="0">
                  <a:ea typeface="Calibri" panose="020F0502020204030204" pitchFamily="34" charset="0"/>
                  <a:cs typeface="Times New Roman" panose="02020603050405020304" pitchFamily="18" charset="0"/>
                </a:endParaRPr>
              </a:p>
              <a:p>
                <a:pPr>
                  <a:lnSpc>
                    <a:spcPct val="200000"/>
                  </a:lnSpc>
                  <a:spcBef>
                    <a:spcPts val="0"/>
                  </a:spcBef>
                  <a:spcAft>
                    <a:spcPts val="800"/>
                  </a:spcAft>
                </a:pPr>
                <a:r>
                  <a:rPr lang="en-US" sz="4000" dirty="0">
                    <a:ea typeface="Calibri" panose="020F0502020204030204" pitchFamily="34" charset="0"/>
                    <a:cs typeface="Times New Roman" panose="02020603050405020304" pitchFamily="18" charset="0"/>
                  </a:rPr>
                  <a:t>RS114448410 genetic variant was significant with a Bonferroni correction</a:t>
                </a:r>
              </a:p>
              <a:p>
                <a:pPr lvl="2">
                  <a:lnSpc>
                    <a:spcPct val="200000"/>
                  </a:lnSpc>
                  <a:spcBef>
                    <a:spcPts val="0"/>
                  </a:spcBef>
                  <a:spcAft>
                    <a:spcPts val="800"/>
                  </a:spcAft>
                  <a:buFont typeface="Wingdings" panose="05000000000000000000" pitchFamily="2" charset="2"/>
                  <a:buChar char="q"/>
                </a:pPr>
                <a:r>
                  <a:rPr lang="en-US" sz="3600" dirty="0">
                    <a:ea typeface="Calibri" panose="020F0502020204030204" pitchFamily="34" charset="0"/>
                    <a:cs typeface="Times New Roman" panose="02020603050405020304" pitchFamily="18" charset="0"/>
                  </a:rPr>
                  <a:t>Not significant with the genome wide adjustment</a:t>
                </a:r>
              </a:p>
              <a:p>
                <a:pPr lvl="2">
                  <a:lnSpc>
                    <a:spcPct val="200000"/>
                  </a:lnSpc>
                  <a:spcBef>
                    <a:spcPts val="0"/>
                  </a:spcBef>
                  <a:spcAft>
                    <a:spcPts val="800"/>
                  </a:spcAft>
                  <a:buFont typeface="Wingdings" panose="05000000000000000000" pitchFamily="2" charset="2"/>
                  <a:buChar char="q"/>
                </a:pPr>
                <a:r>
                  <a:rPr lang="en-US" sz="3600" dirty="0">
                    <a:ea typeface="Calibri" panose="020F0502020204030204" pitchFamily="34" charset="0"/>
                    <a:cs typeface="Times New Roman" panose="02020603050405020304" pitchFamily="18" charset="0"/>
                  </a:rPr>
                  <a:t>Sufficient effect size for 80% power</a:t>
                </a:r>
                <a:endParaRPr lang="en-US" sz="4000" dirty="0">
                  <a:ea typeface="Calibri" panose="020F0502020204030204" pitchFamily="34" charset="0"/>
                  <a:cs typeface="Times New Roman" panose="02020603050405020304" pitchFamily="18" charset="0"/>
                </a:endParaRPr>
              </a:p>
              <a:p>
                <a:pPr>
                  <a:lnSpc>
                    <a:spcPct val="200000"/>
                  </a:lnSpc>
                  <a:spcBef>
                    <a:spcPts val="0"/>
                  </a:spcBef>
                  <a:spcAft>
                    <a:spcPts val="800"/>
                  </a:spcAft>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200000"/>
                  </a:lnSpc>
                  <a:spcBef>
                    <a:spcPts val="0"/>
                  </a:spcBef>
                  <a:spcAft>
                    <a:spcPts val="800"/>
                  </a:spcAft>
                  <a:buNone/>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AB5F1778-92E5-4833-B7CA-EB48A7606932}"/>
                  </a:ext>
                </a:extLst>
              </p:cNvPr>
              <p:cNvSpPr>
                <a:spLocks noGrp="1" noRot="1" noChangeAspect="1" noMove="1" noResize="1" noEditPoints="1" noAdjustHandles="1" noChangeArrowheads="1" noChangeShapeType="1" noTextEdit="1"/>
              </p:cNvSpPr>
              <p:nvPr>
                <p:ph idx="1"/>
              </p:nvPr>
            </p:nvSpPr>
            <p:spPr>
              <a:xfrm>
                <a:off x="1103312" y="1922289"/>
                <a:ext cx="8946541" cy="4739768"/>
              </a:xfrm>
              <a:blipFill>
                <a:blip r:embed="rId2"/>
                <a:stretch>
                  <a:fillRect l="-272" t="-1928" r="-341"/>
                </a:stretch>
              </a:blipFill>
            </p:spPr>
            <p:txBody>
              <a:bodyPr/>
              <a:lstStyle/>
              <a:p>
                <a:r>
                  <a:rPr lang="en-US">
                    <a:noFill/>
                  </a:rPr>
                  <a:t> </a:t>
                </a:r>
              </a:p>
            </p:txBody>
          </p:sp>
        </mc:Fallback>
      </mc:AlternateContent>
    </p:spTree>
    <p:extLst>
      <p:ext uri="{BB962C8B-B14F-4D97-AF65-F5344CB8AC3E}">
        <p14:creationId xmlns:p14="http://schemas.microsoft.com/office/powerpoint/2010/main" val="5516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DCD4-E2F7-4E36-B35E-036DA3B5EC49}"/>
              </a:ext>
            </a:extLst>
          </p:cNvPr>
          <p:cNvSpPr>
            <a:spLocks noGrp="1"/>
          </p:cNvSpPr>
          <p:nvPr>
            <p:ph type="title"/>
          </p:nvPr>
        </p:nvSpPr>
        <p:spPr/>
        <p:txBody>
          <a:bodyPr/>
          <a:lstStyle/>
          <a:p>
            <a:r>
              <a:rPr lang="en-US" dirty="0"/>
              <a:t>Q1 Genetic Variants – Skin Coverage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5F1778-92E5-4833-B7CA-EB48A7606932}"/>
                  </a:ext>
                </a:extLst>
              </p:cNvPr>
              <p:cNvSpPr>
                <a:spLocks noGrp="1"/>
              </p:cNvSpPr>
              <p:nvPr>
                <p:ph idx="1"/>
              </p:nvPr>
            </p:nvSpPr>
            <p:spPr>
              <a:xfrm>
                <a:off x="1103312" y="1922289"/>
                <a:ext cx="10060407" cy="4739768"/>
              </a:xfrm>
            </p:spPr>
            <p:txBody>
              <a:bodyPr>
                <a:normAutofit fontScale="47500" lnSpcReduction="20000"/>
              </a:bodyPr>
              <a:lstStyle/>
              <a:p>
                <a:r>
                  <a:rPr lang="en-US" sz="4000" dirty="0"/>
                  <a:t>Ran 46 different multinomial logistic regression with skin coverage as response and one predictor</a:t>
                </a:r>
              </a:p>
              <a:p>
                <a:pPr marL="457200" lvl="1" indent="0">
                  <a:buNone/>
                </a:pPr>
                <a:endParaRPr lang="en-US" sz="4000" dirty="0"/>
              </a:p>
              <a:p>
                <a:r>
                  <a:rPr lang="en-US" sz="4000" dirty="0"/>
                  <a:t>Likelihood Ratio Tests (</a:t>
                </a:r>
                <a14:m>
                  <m:oMath xmlns:m="http://schemas.openxmlformats.org/officeDocument/2006/math">
                    <m:sSup>
                      <m:sSupPr>
                        <m:ctrlPr>
                          <a:rPr lang="en-US" sz="4000" b="0" i="1" smtClean="0">
                            <a:latin typeface="Cambria Math" panose="02040503050406030204" pitchFamily="18" charset="0"/>
                            <a:ea typeface="Cambria Math" panose="02040503050406030204" pitchFamily="18" charset="0"/>
                          </a:rPr>
                        </m:ctrlPr>
                      </m:sSupPr>
                      <m:e>
                        <m:r>
                          <a:rPr lang="en-US" sz="4000" b="0" i="1" smtClean="0">
                            <a:latin typeface="Cambria Math" panose="02040503050406030204" pitchFamily="18" charset="0"/>
                            <a:ea typeface="Cambria Math" panose="02040503050406030204" pitchFamily="18" charset="0"/>
                          </a:rPr>
                          <m:t>~</m:t>
                        </m:r>
                        <m:r>
                          <a:rPr lang="en-US" sz="4000" i="1" smtClean="0">
                            <a:latin typeface="Cambria Math" panose="02040503050406030204" pitchFamily="18" charset="0"/>
                            <a:ea typeface="Cambria Math" panose="02040503050406030204" pitchFamily="18" charset="0"/>
                          </a:rPr>
                          <m:t>𝜒</m:t>
                        </m:r>
                      </m:e>
                      <m:sup>
                        <m:r>
                          <a:rPr lang="en-US" sz="4000" b="0" i="1" smtClean="0">
                            <a:latin typeface="Cambria Math" panose="02040503050406030204" pitchFamily="18" charset="0"/>
                            <a:ea typeface="Cambria Math" panose="02040503050406030204" pitchFamily="18" charset="0"/>
                          </a:rPr>
                          <m:t>2</m:t>
                        </m:r>
                      </m:sup>
                    </m:sSup>
                  </m:oMath>
                </a14:m>
                <a:r>
                  <a:rPr lang="en-US" sz="4000" dirty="0"/>
                  <a:t>) were performed</a:t>
                </a:r>
              </a:p>
              <a:p>
                <a:pPr marL="0" indent="0">
                  <a:buNone/>
                </a:pPr>
                <a14:m>
                  <m:oMathPara xmlns:m="http://schemas.openxmlformats.org/officeDocument/2006/math">
                    <m:oMathParaPr>
                      <m:jc m:val="centerGroup"/>
                    </m:oMathParaPr>
                    <m:oMath xmlns:m="http://schemas.openxmlformats.org/officeDocument/2006/math">
                      <m:sSub>
                        <m:sSubPr>
                          <m:ctrlPr>
                            <a:rPr lang="en-US" sz="3800" i="1">
                              <a:latin typeface="Cambria Math" panose="02040503050406030204" pitchFamily="18" charset="0"/>
                              <a:ea typeface="Calibri" panose="020F0502020204030204" pitchFamily="34" charset="0"/>
                              <a:cs typeface="Times New Roman" panose="02020603050405020304" pitchFamily="18" charset="0"/>
                            </a:rPr>
                          </m:ctrlPr>
                        </m:sSubPr>
                        <m:e>
                          <m:r>
                            <a:rPr lang="en-US" sz="3800" i="1">
                              <a:latin typeface="Cambria Math" panose="02040503050406030204" pitchFamily="18" charset="0"/>
                              <a:ea typeface="Calibri" panose="020F0502020204030204" pitchFamily="34" charset="0"/>
                              <a:cs typeface="Times New Roman" panose="02020603050405020304" pitchFamily="18" charset="0"/>
                            </a:rPr>
                            <m:t>𝐻</m:t>
                          </m:r>
                        </m:e>
                        <m:sub>
                          <m:r>
                            <a:rPr lang="en-US" sz="3800" i="1">
                              <a:latin typeface="Cambria Math" panose="02040503050406030204" pitchFamily="18" charset="0"/>
                              <a:ea typeface="Calibri" panose="020F0502020204030204" pitchFamily="34" charset="0"/>
                              <a:cs typeface="Times New Roman" panose="02020603050405020304" pitchFamily="18" charset="0"/>
                            </a:rPr>
                            <m:t>0</m:t>
                          </m:r>
                        </m:sub>
                      </m:sSub>
                      <m:r>
                        <a:rPr lang="en-US" sz="3800" i="1">
                          <a:latin typeface="Cambria Math" panose="02040503050406030204" pitchFamily="18" charset="0"/>
                          <a:ea typeface="Calibri" panose="020F0502020204030204" pitchFamily="34" charset="0"/>
                          <a:cs typeface="Times New Roman" panose="02020603050405020304" pitchFamily="18" charset="0"/>
                        </a:rPr>
                        <m:t>:</m:t>
                      </m:r>
                      <m:sSub>
                        <m:sSubPr>
                          <m:ctrlPr>
                            <a:rPr lang="en-US" sz="3800"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3800" i="1">
                              <a:latin typeface="Cambria Math" panose="02040503050406030204" pitchFamily="18" charset="0"/>
                              <a:ea typeface="Times New Roman" panose="02020603050405020304" pitchFamily="18" charset="0"/>
                              <a:cs typeface="Times New Roman" panose="02020603050405020304" pitchFamily="18" charset="0"/>
                            </a:rPr>
                            <m:t>𝛽</m:t>
                          </m:r>
                        </m:e>
                        <m:sub>
                          <m:r>
                            <a:rPr lang="en-US" sz="3800" i="1">
                              <a:latin typeface="Cambria Math" panose="02040503050406030204" pitchFamily="18" charset="0"/>
                              <a:ea typeface="Times New Roman" panose="02020603050405020304" pitchFamily="18" charset="0"/>
                              <a:cs typeface="Times New Roman" panose="02020603050405020304" pitchFamily="18" charset="0"/>
                            </a:rPr>
                            <m:t>1</m:t>
                          </m:r>
                        </m:sub>
                      </m:sSub>
                      <m:r>
                        <a:rPr lang="en-US" sz="3800" i="1">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en-US" sz="3800" dirty="0">
                  <a:ea typeface="Calibri" panose="020F0502020204030204" pitchFamily="34" charset="0"/>
                  <a:cs typeface="Times New Roman" panose="02020603050405020304" pitchFamily="18" charset="0"/>
                </a:endParaRPr>
              </a:p>
              <a:p>
                <a:pPr marL="0" marR="0" indent="0">
                  <a:lnSpc>
                    <a:spcPct val="200000"/>
                  </a:lnSpc>
                  <a:spcBef>
                    <a:spcPts val="0"/>
                  </a:spcBef>
                  <a:spcAft>
                    <a:spcPts val="800"/>
                  </a:spcAft>
                  <a:buNone/>
                </a:pPr>
                <a14:m>
                  <m:oMathPara xmlns:m="http://schemas.openxmlformats.org/officeDocument/2006/math">
                    <m:oMathParaPr>
                      <m:jc m:val="centerGroup"/>
                    </m:oMathParaPr>
                    <m:oMath xmlns:m="http://schemas.openxmlformats.org/officeDocument/2006/math">
                      <m:sSub>
                        <m:sSubPr>
                          <m:ctrlPr>
                            <a:rPr lang="en-US" sz="4000" i="1">
                              <a:latin typeface="Cambria Math" panose="02040503050406030204" pitchFamily="18" charset="0"/>
                              <a:ea typeface="Calibri" panose="020F0502020204030204" pitchFamily="34" charset="0"/>
                              <a:cs typeface="Times New Roman" panose="02020603050405020304" pitchFamily="18" charset="0"/>
                            </a:rPr>
                          </m:ctrlPr>
                        </m:sSubPr>
                        <m:e>
                          <m:r>
                            <a:rPr lang="en-US" sz="4000" i="1">
                              <a:latin typeface="Cambria Math" panose="02040503050406030204" pitchFamily="18" charset="0"/>
                              <a:ea typeface="Calibri" panose="020F0502020204030204" pitchFamily="34" charset="0"/>
                              <a:cs typeface="Times New Roman" panose="02020603050405020304" pitchFamily="18" charset="0"/>
                            </a:rPr>
                            <m:t>𝐻</m:t>
                          </m:r>
                        </m:e>
                        <m:sub>
                          <m:r>
                            <a:rPr lang="en-US" sz="4000" i="1">
                              <a:latin typeface="Cambria Math" panose="02040503050406030204" pitchFamily="18" charset="0"/>
                              <a:ea typeface="Calibri" panose="020F0502020204030204" pitchFamily="34" charset="0"/>
                              <a:cs typeface="Times New Roman" panose="02020603050405020304" pitchFamily="18" charset="0"/>
                            </a:rPr>
                            <m:t>𝑎</m:t>
                          </m:r>
                        </m:sub>
                      </m:sSub>
                      <m:r>
                        <a:rPr lang="en-US" sz="4000" i="1">
                          <a:latin typeface="Cambria Math" panose="02040503050406030204" pitchFamily="18" charset="0"/>
                          <a:ea typeface="Calibri" panose="020F0502020204030204" pitchFamily="34" charset="0"/>
                          <a:cs typeface="Times New Roman" panose="02020603050405020304" pitchFamily="18" charset="0"/>
                        </a:rPr>
                        <m:t>:</m:t>
                      </m:r>
                      <m:sSub>
                        <m:sSubPr>
                          <m:ctrlPr>
                            <a:rPr lang="en-US" sz="4000" i="1">
                              <a:latin typeface="Cambria Math" panose="02040503050406030204" pitchFamily="18" charset="0"/>
                              <a:ea typeface="Calibri" panose="020F0502020204030204" pitchFamily="34" charset="0"/>
                              <a:cs typeface="Times New Roman" panose="02020603050405020304" pitchFamily="18" charset="0"/>
                            </a:rPr>
                          </m:ctrlPr>
                        </m:sSubPr>
                        <m:e>
                          <m:r>
                            <a:rPr lang="en-US" sz="4000" i="1">
                              <a:latin typeface="Cambria Math" panose="02040503050406030204" pitchFamily="18" charset="0"/>
                              <a:ea typeface="Calibri" panose="020F0502020204030204" pitchFamily="34" charset="0"/>
                              <a:cs typeface="Times New Roman" panose="02020603050405020304" pitchFamily="18" charset="0"/>
                            </a:rPr>
                            <m:t>𝛽</m:t>
                          </m:r>
                        </m:e>
                        <m:sub>
                          <m:r>
                            <a:rPr lang="en-US" sz="4000" i="1">
                              <a:latin typeface="Cambria Math" panose="02040503050406030204" pitchFamily="18" charset="0"/>
                              <a:ea typeface="Calibri" panose="020F0502020204030204" pitchFamily="34" charset="0"/>
                              <a:cs typeface="Times New Roman" panose="02020603050405020304" pitchFamily="18" charset="0"/>
                            </a:rPr>
                            <m:t>1</m:t>
                          </m:r>
                        </m:sub>
                      </m:sSub>
                      <m:r>
                        <a:rPr lang="en-US" sz="4000" i="1">
                          <a:latin typeface="Cambria Math" panose="02040503050406030204" pitchFamily="18" charset="0"/>
                          <a:ea typeface="Calibri" panose="020F0502020204030204" pitchFamily="34" charset="0"/>
                          <a:cs typeface="Times New Roman" panose="02020603050405020304" pitchFamily="18" charset="0"/>
                        </a:rPr>
                        <m:t>≠0</m:t>
                      </m:r>
                    </m:oMath>
                  </m:oMathPara>
                </a14:m>
                <a:endParaRPr lang="en-US" sz="4000" dirty="0">
                  <a:ea typeface="Calibri" panose="020F0502020204030204" pitchFamily="34" charset="0"/>
                  <a:cs typeface="Times New Roman" panose="02020603050405020304" pitchFamily="18" charset="0"/>
                </a:endParaRPr>
              </a:p>
              <a:p>
                <a:pPr>
                  <a:lnSpc>
                    <a:spcPct val="200000"/>
                  </a:lnSpc>
                  <a:spcBef>
                    <a:spcPts val="0"/>
                  </a:spcBef>
                  <a:spcAft>
                    <a:spcPts val="800"/>
                  </a:spcAft>
                </a:pPr>
                <a:r>
                  <a:rPr lang="en-US" sz="4000" dirty="0">
                    <a:ea typeface="Calibri" panose="020F0502020204030204" pitchFamily="34" charset="0"/>
                    <a:cs typeface="Times New Roman" panose="02020603050405020304" pitchFamily="18" charset="0"/>
                  </a:rPr>
                  <a:t>RS1126809 and RS10986311 genetic variants were significant with a Bonferroni correction</a:t>
                </a:r>
              </a:p>
              <a:p>
                <a:pPr lvl="2">
                  <a:lnSpc>
                    <a:spcPct val="200000"/>
                  </a:lnSpc>
                  <a:spcBef>
                    <a:spcPts val="0"/>
                  </a:spcBef>
                  <a:spcAft>
                    <a:spcPts val="800"/>
                  </a:spcAft>
                  <a:buFont typeface="Wingdings" panose="05000000000000000000" pitchFamily="2" charset="2"/>
                  <a:buChar char="q"/>
                </a:pPr>
                <a:r>
                  <a:rPr lang="en-US" sz="3600" dirty="0">
                    <a:ea typeface="Calibri" panose="020F0502020204030204" pitchFamily="34" charset="0"/>
                    <a:cs typeface="Times New Roman" panose="02020603050405020304" pitchFamily="18" charset="0"/>
                  </a:rPr>
                  <a:t>None significant with the genome wide adjustment</a:t>
                </a:r>
              </a:p>
              <a:p>
                <a:pPr lvl="2">
                  <a:lnSpc>
                    <a:spcPct val="200000"/>
                  </a:lnSpc>
                  <a:spcBef>
                    <a:spcPts val="0"/>
                  </a:spcBef>
                  <a:spcAft>
                    <a:spcPts val="800"/>
                  </a:spcAft>
                  <a:buFont typeface="Wingdings" panose="05000000000000000000" pitchFamily="2" charset="2"/>
                  <a:buChar char="q"/>
                </a:pPr>
                <a:r>
                  <a:rPr lang="en-US" sz="3600" dirty="0">
                    <a:ea typeface="Calibri" panose="020F0502020204030204" pitchFamily="34" charset="0"/>
                    <a:cs typeface="Times New Roman" panose="02020603050405020304" pitchFamily="18" charset="0"/>
                  </a:rPr>
                  <a:t>RS10986311 has 80% power, when skin coverage is converted to numeric factor</a:t>
                </a:r>
              </a:p>
              <a:p>
                <a:pPr lvl="2">
                  <a:lnSpc>
                    <a:spcPct val="200000"/>
                  </a:lnSpc>
                  <a:spcBef>
                    <a:spcPts val="0"/>
                  </a:spcBef>
                  <a:spcAft>
                    <a:spcPts val="800"/>
                  </a:spcAft>
                  <a:buFont typeface="Wingdings" panose="05000000000000000000" pitchFamily="2" charset="2"/>
                  <a:buChar char="q"/>
                </a:pP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200000"/>
                  </a:lnSpc>
                  <a:spcBef>
                    <a:spcPts val="0"/>
                  </a:spcBef>
                  <a:spcAft>
                    <a:spcPts val="800"/>
                  </a:spcAft>
                  <a:buNone/>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AB5F1778-92E5-4833-B7CA-EB48A7606932}"/>
                  </a:ext>
                </a:extLst>
              </p:cNvPr>
              <p:cNvSpPr>
                <a:spLocks noGrp="1" noRot="1" noChangeAspect="1" noMove="1" noResize="1" noEditPoints="1" noAdjustHandles="1" noChangeArrowheads="1" noChangeShapeType="1" noTextEdit="1"/>
              </p:cNvSpPr>
              <p:nvPr>
                <p:ph idx="1"/>
              </p:nvPr>
            </p:nvSpPr>
            <p:spPr>
              <a:xfrm>
                <a:off x="1103312" y="1922289"/>
                <a:ext cx="10060407" cy="4739768"/>
              </a:xfrm>
              <a:blipFill>
                <a:blip r:embed="rId3"/>
                <a:stretch>
                  <a:fillRect l="-242" t="-1928"/>
                </a:stretch>
              </a:blipFill>
            </p:spPr>
            <p:txBody>
              <a:bodyPr/>
              <a:lstStyle/>
              <a:p>
                <a:r>
                  <a:rPr lang="en-US">
                    <a:noFill/>
                  </a:rPr>
                  <a:t> </a:t>
                </a:r>
              </a:p>
            </p:txBody>
          </p:sp>
        </mc:Fallback>
      </mc:AlternateContent>
    </p:spTree>
    <p:extLst>
      <p:ext uri="{BB962C8B-B14F-4D97-AF65-F5344CB8AC3E}">
        <p14:creationId xmlns:p14="http://schemas.microsoft.com/office/powerpoint/2010/main" val="297585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C0E55-45AF-4459-A941-55145D418E0A}"/>
              </a:ext>
            </a:extLst>
          </p:cNvPr>
          <p:cNvSpPr>
            <a:spLocks noGrp="1"/>
          </p:cNvSpPr>
          <p:nvPr>
            <p:ph type="title"/>
          </p:nvPr>
        </p:nvSpPr>
        <p:spPr/>
        <p:txBody>
          <a:bodyPr/>
          <a:lstStyle/>
          <a:p>
            <a:r>
              <a:rPr lang="en-US" dirty="0"/>
              <a:t>Q2: Minimum Effect Sizes &amp; Power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AF6968-F2C4-4BEB-B148-D4B5149FFA35}"/>
                  </a:ext>
                </a:extLst>
              </p:cNvPr>
              <p:cNvSpPr>
                <a:spLocks noGrp="1"/>
              </p:cNvSpPr>
              <p:nvPr>
                <p:ph idx="1"/>
              </p:nvPr>
            </p:nvSpPr>
            <p:spPr>
              <a:xfrm>
                <a:off x="1103312" y="1747777"/>
                <a:ext cx="9672718" cy="4811643"/>
              </a:xfrm>
            </p:spPr>
            <p:txBody>
              <a:bodyPr>
                <a:normAutofit lnSpcReduction="10000"/>
              </a:bodyPr>
              <a:lstStyle/>
              <a:p>
                <a:r>
                  <a:rPr lang="en-US" dirty="0"/>
                  <a:t>Power is the probability of not making a Type II error</a:t>
                </a:r>
              </a:p>
              <a:p>
                <a:pPr lvl="2">
                  <a:buFont typeface="Wingdings" panose="05000000000000000000" pitchFamily="2" charset="2"/>
                  <a:buChar char="q"/>
                </a:pPr>
                <a:r>
                  <a:rPr lang="en-US" dirty="0"/>
                  <a:t>Rejecting the null hypothesis when </a:t>
                </a:r>
                <a:r>
                  <a:rPr lang="en-US" i="1" dirty="0"/>
                  <a:t>it is</a:t>
                </a:r>
                <a:r>
                  <a:rPr lang="en-US" dirty="0"/>
                  <a:t> false</a:t>
                </a:r>
              </a:p>
              <a:p>
                <a:pPr lvl="1"/>
                <a:endParaRPr lang="en-US" dirty="0"/>
              </a:p>
              <a:p>
                <a:r>
                  <a:rPr lang="en-US" dirty="0"/>
                  <a:t>We are looking at the variance in these two characteristics explained by the genetic variance</a:t>
                </a:r>
              </a:p>
              <a:p>
                <a:pPr lvl="2">
                  <a:buFont typeface="Wingdings" panose="05000000000000000000" pitchFamily="2" charset="2"/>
                  <a:buChar char="q"/>
                </a:pPr>
                <a:r>
                  <a:rPr lang="en-US" dirty="0"/>
                  <a:t>‘Variance explained’ normally measured with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a14:m>
                <a:endParaRPr lang="en-US" dirty="0"/>
              </a:p>
              <a:p>
                <a:pPr lvl="2">
                  <a:buFont typeface="Wingdings" panose="05000000000000000000" pitchFamily="2" charset="2"/>
                  <a:buChar char="q"/>
                </a:pPr>
                <a:r>
                  <a:rPr lang="en-US" dirty="0"/>
                  <a:t>Cohen’s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2</m:t>
                        </m:r>
                      </m:sup>
                    </m:sSup>
                  </m:oMath>
                </a14:m>
                <a:r>
                  <a:rPr lang="en-US" dirty="0"/>
                  <a:t> was used to determine effect size,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2</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den>
                    </m:f>
                  </m:oMath>
                </a14:m>
                <a:endParaRPr lang="en-US" dirty="0"/>
              </a:p>
              <a:p>
                <a:pPr lvl="1"/>
                <a:endParaRPr lang="en-US" dirty="0"/>
              </a:p>
              <a:p>
                <a:r>
                  <a:rPr lang="en-US" dirty="0"/>
                  <a:t>No good way to assess effect sizes for categorical outcomes</a:t>
                </a:r>
              </a:p>
              <a:p>
                <a:pPr lvl="2">
                  <a:buFont typeface="Wingdings" panose="05000000000000000000" pitchFamily="2" charset="2"/>
                  <a:buChar char="q"/>
                </a:pPr>
                <a:r>
                  <a:rPr lang="en-US" dirty="0"/>
                  <a:t>Power for skin coverage was done by approximating the model as a linear regression</a:t>
                </a:r>
              </a:p>
              <a:p>
                <a:pPr lvl="2">
                  <a:buFont typeface="Wingdings" panose="05000000000000000000" pitchFamily="2" charset="2"/>
                  <a:buChar char="q"/>
                </a:pPr>
                <a:r>
                  <a:rPr lang="en-US" dirty="0"/>
                  <a:t>Other popular methods include Monte Carlo simulations over simulated data and calculating a LR or chi-squared test</a:t>
                </a:r>
              </a:p>
            </p:txBody>
          </p:sp>
        </mc:Choice>
        <mc:Fallback xmlns="">
          <p:sp>
            <p:nvSpPr>
              <p:cNvPr id="3" name="Content Placeholder 2">
                <a:extLst>
                  <a:ext uri="{FF2B5EF4-FFF2-40B4-BE49-F238E27FC236}">
                    <a16:creationId xmlns:a16="http://schemas.microsoft.com/office/drawing/2014/main" id="{5FAF6968-F2C4-4BEB-B148-D4B5149FFA35}"/>
                  </a:ext>
                </a:extLst>
              </p:cNvPr>
              <p:cNvSpPr>
                <a:spLocks noGrp="1" noRot="1" noChangeAspect="1" noMove="1" noResize="1" noEditPoints="1" noAdjustHandles="1" noChangeArrowheads="1" noChangeShapeType="1" noTextEdit="1"/>
              </p:cNvSpPr>
              <p:nvPr>
                <p:ph idx="1"/>
              </p:nvPr>
            </p:nvSpPr>
            <p:spPr>
              <a:xfrm>
                <a:off x="1103312" y="1747777"/>
                <a:ext cx="9672718" cy="4811643"/>
              </a:xfrm>
              <a:blipFill>
                <a:blip r:embed="rId3"/>
                <a:stretch>
                  <a:fillRect l="-315" t="-1394"/>
                </a:stretch>
              </a:blipFill>
            </p:spPr>
            <p:txBody>
              <a:bodyPr/>
              <a:lstStyle/>
              <a:p>
                <a:r>
                  <a:rPr lang="en-US">
                    <a:noFill/>
                  </a:rPr>
                  <a:t> </a:t>
                </a:r>
              </a:p>
            </p:txBody>
          </p:sp>
        </mc:Fallback>
      </mc:AlternateContent>
    </p:spTree>
    <p:extLst>
      <p:ext uri="{BB962C8B-B14F-4D97-AF65-F5344CB8AC3E}">
        <p14:creationId xmlns:p14="http://schemas.microsoft.com/office/powerpoint/2010/main" val="3838698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593223-ECD6-4DE4-9D17-0655EC00A5D0}"/>
              </a:ext>
            </a:extLst>
          </p:cNvPr>
          <p:cNvSpPr>
            <a:spLocks noGrp="1"/>
          </p:cNvSpPr>
          <p:nvPr>
            <p:ph type="title"/>
          </p:nvPr>
        </p:nvSpPr>
        <p:spPr>
          <a:xfrm>
            <a:off x="648930" y="629267"/>
            <a:ext cx="9252154" cy="1016654"/>
          </a:xfrm>
        </p:spPr>
        <p:txBody>
          <a:bodyPr>
            <a:normAutofit/>
          </a:bodyPr>
          <a:lstStyle/>
          <a:p>
            <a:r>
              <a:rPr lang="en-US" dirty="0">
                <a:solidFill>
                  <a:srgbClr val="EBEBEB"/>
                </a:solidFill>
              </a:rPr>
              <a:t>Q2: Minimum Effect Sizes</a:t>
            </a:r>
          </a:p>
        </p:txBody>
      </p:sp>
      <p:sp>
        <p:nvSpPr>
          <p:cNvPr id="13" name="Rectangle 12">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5" name="Freeform: Shape 14">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sp>
      <p:graphicFrame>
        <p:nvGraphicFramePr>
          <p:cNvPr id="4" name="Content Placeholder 3">
            <a:extLst>
              <a:ext uri="{FF2B5EF4-FFF2-40B4-BE49-F238E27FC236}">
                <a16:creationId xmlns:a16="http://schemas.microsoft.com/office/drawing/2014/main" id="{4069FD2F-8F82-41CA-BE67-B2B3495C5DBF}"/>
              </a:ext>
            </a:extLst>
          </p:cNvPr>
          <p:cNvGraphicFramePr>
            <a:graphicFrameLocks noGrp="1"/>
          </p:cNvGraphicFramePr>
          <p:nvPr>
            <p:ph idx="1"/>
            <p:extLst>
              <p:ext uri="{D42A27DB-BD31-4B8C-83A1-F6EECF244321}">
                <p14:modId xmlns:p14="http://schemas.microsoft.com/office/powerpoint/2010/main" val="2113813924"/>
              </p:ext>
            </p:extLst>
          </p:nvPr>
        </p:nvGraphicFramePr>
        <p:xfrm>
          <a:off x="65314" y="2802194"/>
          <a:ext cx="12057862" cy="2930011"/>
        </p:xfrm>
        <a:graphic>
          <a:graphicData uri="http://schemas.openxmlformats.org/drawingml/2006/table">
            <a:tbl>
              <a:tblPr firstRow="1" firstCol="1" bandRow="1">
                <a:tableStyleId>{5C22544A-7EE6-4342-B048-85BDC9FD1C3A}</a:tableStyleId>
              </a:tblPr>
              <a:tblGrid>
                <a:gridCol w="1196496">
                  <a:extLst>
                    <a:ext uri="{9D8B030D-6E8A-4147-A177-3AD203B41FA5}">
                      <a16:colId xmlns:a16="http://schemas.microsoft.com/office/drawing/2014/main" val="1380007859"/>
                    </a:ext>
                  </a:extLst>
                </a:gridCol>
                <a:gridCol w="1378159">
                  <a:extLst>
                    <a:ext uri="{9D8B030D-6E8A-4147-A177-3AD203B41FA5}">
                      <a16:colId xmlns:a16="http://schemas.microsoft.com/office/drawing/2014/main" val="1188722509"/>
                    </a:ext>
                  </a:extLst>
                </a:gridCol>
                <a:gridCol w="936389">
                  <a:extLst>
                    <a:ext uri="{9D8B030D-6E8A-4147-A177-3AD203B41FA5}">
                      <a16:colId xmlns:a16="http://schemas.microsoft.com/office/drawing/2014/main" val="1633783178"/>
                    </a:ext>
                  </a:extLst>
                </a:gridCol>
                <a:gridCol w="1012770">
                  <a:extLst>
                    <a:ext uri="{9D8B030D-6E8A-4147-A177-3AD203B41FA5}">
                      <a16:colId xmlns:a16="http://schemas.microsoft.com/office/drawing/2014/main" val="2337890695"/>
                    </a:ext>
                  </a:extLst>
                </a:gridCol>
                <a:gridCol w="1229527">
                  <a:extLst>
                    <a:ext uri="{9D8B030D-6E8A-4147-A177-3AD203B41FA5}">
                      <a16:colId xmlns:a16="http://schemas.microsoft.com/office/drawing/2014/main" val="505143398"/>
                    </a:ext>
                  </a:extLst>
                </a:gridCol>
                <a:gridCol w="1268749">
                  <a:extLst>
                    <a:ext uri="{9D8B030D-6E8A-4147-A177-3AD203B41FA5}">
                      <a16:colId xmlns:a16="http://schemas.microsoft.com/office/drawing/2014/main" val="2182742384"/>
                    </a:ext>
                  </a:extLst>
                </a:gridCol>
                <a:gridCol w="1268748">
                  <a:extLst>
                    <a:ext uri="{9D8B030D-6E8A-4147-A177-3AD203B41FA5}">
                      <a16:colId xmlns:a16="http://schemas.microsoft.com/office/drawing/2014/main" val="2379456438"/>
                    </a:ext>
                  </a:extLst>
                </a:gridCol>
                <a:gridCol w="1229527">
                  <a:extLst>
                    <a:ext uri="{9D8B030D-6E8A-4147-A177-3AD203B41FA5}">
                      <a16:colId xmlns:a16="http://schemas.microsoft.com/office/drawing/2014/main" val="643062388"/>
                    </a:ext>
                  </a:extLst>
                </a:gridCol>
                <a:gridCol w="1268749">
                  <a:extLst>
                    <a:ext uri="{9D8B030D-6E8A-4147-A177-3AD203B41FA5}">
                      <a16:colId xmlns:a16="http://schemas.microsoft.com/office/drawing/2014/main" val="2442968199"/>
                    </a:ext>
                  </a:extLst>
                </a:gridCol>
                <a:gridCol w="1268748">
                  <a:extLst>
                    <a:ext uri="{9D8B030D-6E8A-4147-A177-3AD203B41FA5}">
                      <a16:colId xmlns:a16="http://schemas.microsoft.com/office/drawing/2014/main" val="3943552779"/>
                    </a:ext>
                  </a:extLst>
                </a:gridCol>
              </a:tblGrid>
              <a:tr h="366172">
                <a:tc>
                  <a:txBody>
                    <a:bodyPr/>
                    <a:lstStyle/>
                    <a:p>
                      <a:pPr marL="0" marR="0" algn="ctr">
                        <a:lnSpc>
                          <a:spcPct val="107000"/>
                        </a:lnSpc>
                        <a:spcBef>
                          <a:spcPts val="0"/>
                        </a:spcBef>
                        <a:spcAft>
                          <a:spcPts val="0"/>
                        </a:spcAft>
                      </a:pPr>
                      <a:r>
                        <a:rPr lang="en-US" sz="1500" dirty="0">
                          <a:effectLst/>
                        </a:rPr>
                        <a:t> </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gridSpan="3">
                  <a:txBody>
                    <a:bodyPr/>
                    <a:lstStyle/>
                    <a:p>
                      <a:pPr marL="0" marR="0" algn="ctr">
                        <a:lnSpc>
                          <a:spcPct val="107000"/>
                        </a:lnSpc>
                        <a:spcBef>
                          <a:spcPts val="0"/>
                        </a:spcBef>
                        <a:spcAft>
                          <a:spcPts val="0"/>
                        </a:spcAft>
                      </a:pPr>
                      <a:r>
                        <a:rPr lang="en-US" sz="1500" dirty="0">
                          <a:effectLst/>
                        </a:rPr>
                        <a:t>Inputs</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hMerge="1">
                  <a:txBody>
                    <a:bodyPr/>
                    <a:lstStyle/>
                    <a:p>
                      <a:endParaRPr lang="en-US"/>
                    </a:p>
                  </a:txBody>
                  <a:tcPr/>
                </a:tc>
                <a:tc hMerge="1">
                  <a:txBody>
                    <a:bodyPr/>
                    <a:lstStyle/>
                    <a:p>
                      <a:endParaRPr lang="en-US"/>
                    </a:p>
                  </a:txBody>
                  <a:tcPr/>
                </a:tc>
                <a:tc gridSpan="3">
                  <a:txBody>
                    <a:bodyPr/>
                    <a:lstStyle/>
                    <a:p>
                      <a:pPr marL="0" marR="0" algn="ctr">
                        <a:lnSpc>
                          <a:spcPct val="107000"/>
                        </a:lnSpc>
                        <a:spcBef>
                          <a:spcPts val="0"/>
                        </a:spcBef>
                        <a:spcAft>
                          <a:spcPts val="0"/>
                        </a:spcAft>
                      </a:pPr>
                      <a:r>
                        <a:rPr lang="en-US" sz="1500">
                          <a:effectLst/>
                        </a:rPr>
                        <a:t>Cohen's f2</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hMerge="1">
                  <a:txBody>
                    <a:bodyPr/>
                    <a:lstStyle/>
                    <a:p>
                      <a:endParaRPr lang="en-US"/>
                    </a:p>
                  </a:txBody>
                  <a:tcPr/>
                </a:tc>
                <a:tc hMerge="1">
                  <a:txBody>
                    <a:bodyPr/>
                    <a:lstStyle/>
                    <a:p>
                      <a:endParaRPr lang="en-US"/>
                    </a:p>
                  </a:txBody>
                  <a:tcPr/>
                </a:tc>
                <a:tc gridSpan="3">
                  <a:txBody>
                    <a:bodyPr/>
                    <a:lstStyle/>
                    <a:p>
                      <a:pPr marL="0" marR="0" algn="ctr">
                        <a:lnSpc>
                          <a:spcPct val="107000"/>
                        </a:lnSpc>
                        <a:spcBef>
                          <a:spcPts val="0"/>
                        </a:spcBef>
                        <a:spcAft>
                          <a:spcPts val="0"/>
                        </a:spcAft>
                      </a:pPr>
                      <a:r>
                        <a:rPr lang="en-US" sz="1500">
                          <a:effectLst/>
                        </a:rPr>
                        <a:t>R-squared Effect Size</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87633135"/>
                  </a:ext>
                </a:extLst>
              </a:tr>
              <a:tr h="1000989">
                <a:tc>
                  <a:txBody>
                    <a:bodyPr/>
                    <a:lstStyle/>
                    <a:p>
                      <a:pPr marL="0" marR="0" algn="ctr">
                        <a:lnSpc>
                          <a:spcPct val="107000"/>
                        </a:lnSpc>
                        <a:spcBef>
                          <a:spcPts val="0"/>
                        </a:spcBef>
                        <a:spcAft>
                          <a:spcPts val="0"/>
                        </a:spcAft>
                      </a:pPr>
                      <a:r>
                        <a:rPr lang="en-US" sz="1500">
                          <a:effectLst/>
                        </a:rPr>
                        <a:t> </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dirty="0">
                          <a:effectLst/>
                        </a:rPr>
                        <a:t>Complete Observations</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dirty="0">
                          <a:effectLst/>
                        </a:rPr>
                        <a:t>Power Desired</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dirty="0">
                          <a:effectLst/>
                        </a:rPr>
                        <a:t>Effective DF</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dirty="0">
                          <a:effectLst/>
                        </a:rPr>
                        <a:t>Unadjusted</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a:effectLst/>
                        </a:rPr>
                        <a:t>Bonferroni Adjustment</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a:effectLst/>
                        </a:rPr>
                        <a:t>Genome-wide adjustment</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dirty="0">
                          <a:effectLst/>
                        </a:rPr>
                        <a:t>Unadjusted</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a:effectLst/>
                        </a:rPr>
                        <a:t>Bonferroni Adjustment</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a:effectLst/>
                        </a:rPr>
                        <a:t>Genome-wide adjustment</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extLst>
                  <a:ext uri="{0D108BD9-81ED-4DB2-BD59-A6C34878D82A}">
                    <a16:rowId xmlns:a16="http://schemas.microsoft.com/office/drawing/2014/main" val="1527257101"/>
                  </a:ext>
                </a:extLst>
              </a:tr>
              <a:tr h="621832">
                <a:tc>
                  <a:txBody>
                    <a:bodyPr/>
                    <a:lstStyle/>
                    <a:p>
                      <a:pPr marL="0" marR="0" algn="ctr">
                        <a:lnSpc>
                          <a:spcPct val="107000"/>
                        </a:lnSpc>
                        <a:spcBef>
                          <a:spcPts val="0"/>
                        </a:spcBef>
                        <a:spcAft>
                          <a:spcPts val="0"/>
                        </a:spcAft>
                      </a:pPr>
                      <a:r>
                        <a:rPr lang="en-US" sz="1500">
                          <a:effectLst/>
                        </a:rPr>
                        <a:t>Age of onset</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a:effectLst/>
                        </a:rPr>
                        <a:t>2,190</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a:effectLst/>
                        </a:rPr>
                        <a:t>80%</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dirty="0">
                          <a:effectLst/>
                        </a:rPr>
                        <a:t>1</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dirty="0">
                          <a:effectLst/>
                        </a:rPr>
                        <a:t>0.0035889</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dirty="0">
                          <a:effectLst/>
                        </a:rPr>
                        <a:t>0.00774619</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dirty="0">
                          <a:effectLst/>
                        </a:rPr>
                        <a:t>0.01857838</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a:effectLst/>
                        </a:rPr>
                        <a:t>0.0035761</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a:effectLst/>
                        </a:rPr>
                        <a:t>0.00768665</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a:effectLst/>
                        </a:rPr>
                        <a:t>0.01823952</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extLst>
                  <a:ext uri="{0D108BD9-81ED-4DB2-BD59-A6C34878D82A}">
                    <a16:rowId xmlns:a16="http://schemas.microsoft.com/office/drawing/2014/main" val="938247359"/>
                  </a:ext>
                </a:extLst>
              </a:tr>
              <a:tr h="941018">
                <a:tc>
                  <a:txBody>
                    <a:bodyPr/>
                    <a:lstStyle/>
                    <a:p>
                      <a:pPr marL="0" marR="0" algn="ctr">
                        <a:lnSpc>
                          <a:spcPct val="107000"/>
                        </a:lnSpc>
                        <a:spcBef>
                          <a:spcPts val="0"/>
                        </a:spcBef>
                        <a:spcAft>
                          <a:spcPts val="0"/>
                        </a:spcAft>
                      </a:pPr>
                      <a:r>
                        <a:rPr lang="en-US" sz="1500" dirty="0">
                          <a:effectLst/>
                        </a:rPr>
                        <a:t>Skin coverage</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a:effectLst/>
                        </a:rPr>
                        <a:t>1,988</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a:effectLst/>
                        </a:rPr>
                        <a:t>80%</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a:effectLst/>
                        </a:rPr>
                        <a:t>1</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a:effectLst/>
                        </a:rPr>
                        <a:t>0.0039673</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dirty="0">
                          <a:effectLst/>
                        </a:rPr>
                        <a:t>0.00850737</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dirty="0">
                          <a:effectLst/>
                        </a:rPr>
                        <a:t>0.02049436</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dirty="0">
                          <a:effectLst/>
                        </a:rPr>
                        <a:t>0.0039517</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dirty="0">
                          <a:effectLst/>
                        </a:rPr>
                        <a:t>0.0084356</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tc>
                  <a:txBody>
                    <a:bodyPr/>
                    <a:lstStyle/>
                    <a:p>
                      <a:pPr marL="0" marR="0" algn="ctr">
                        <a:lnSpc>
                          <a:spcPct val="107000"/>
                        </a:lnSpc>
                        <a:spcBef>
                          <a:spcPts val="0"/>
                        </a:spcBef>
                        <a:spcAft>
                          <a:spcPts val="0"/>
                        </a:spcAft>
                      </a:pPr>
                      <a:r>
                        <a:rPr lang="en-US" sz="1500" dirty="0">
                          <a:effectLst/>
                        </a:rPr>
                        <a:t>0.02008278</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80582" marR="80582" marT="0" marB="0" anchor="ctr"/>
                </a:tc>
                <a:extLst>
                  <a:ext uri="{0D108BD9-81ED-4DB2-BD59-A6C34878D82A}">
                    <a16:rowId xmlns:a16="http://schemas.microsoft.com/office/drawing/2014/main" val="1594970659"/>
                  </a:ext>
                </a:extLst>
              </a:tr>
            </a:tbl>
          </a:graphicData>
        </a:graphic>
      </p:graphicFrame>
    </p:spTree>
    <p:extLst>
      <p:ext uri="{BB962C8B-B14F-4D97-AF65-F5344CB8AC3E}">
        <p14:creationId xmlns:p14="http://schemas.microsoft.com/office/powerpoint/2010/main" val="2505252828"/>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216EA-1204-40C4-8C32-45687E56FEEB}"/>
              </a:ext>
            </a:extLst>
          </p:cNvPr>
          <p:cNvSpPr>
            <a:spLocks noGrp="1"/>
          </p:cNvSpPr>
          <p:nvPr>
            <p:ph type="title"/>
          </p:nvPr>
        </p:nvSpPr>
        <p:spPr/>
        <p:txBody>
          <a:bodyPr/>
          <a:lstStyle/>
          <a:p>
            <a:r>
              <a:rPr lang="en-US" dirty="0"/>
              <a:t>Q3: Discernible Data Structure?</a:t>
            </a:r>
          </a:p>
        </p:txBody>
      </p:sp>
      <p:sp>
        <p:nvSpPr>
          <p:cNvPr id="3" name="Content Placeholder 2">
            <a:extLst>
              <a:ext uri="{FF2B5EF4-FFF2-40B4-BE49-F238E27FC236}">
                <a16:creationId xmlns:a16="http://schemas.microsoft.com/office/drawing/2014/main" id="{3E073978-7B75-46CE-8F39-1FA4112E0A86}"/>
              </a:ext>
            </a:extLst>
          </p:cNvPr>
          <p:cNvSpPr>
            <a:spLocks noGrp="1"/>
          </p:cNvSpPr>
          <p:nvPr>
            <p:ph idx="1"/>
          </p:nvPr>
        </p:nvSpPr>
        <p:spPr/>
        <p:txBody>
          <a:bodyPr/>
          <a:lstStyle/>
          <a:p>
            <a:r>
              <a:rPr lang="en-US" dirty="0"/>
              <a:t>Data structure can be visualized with clustering (k-means)</a:t>
            </a:r>
          </a:p>
          <a:p>
            <a:r>
              <a:rPr lang="en-US" dirty="0"/>
              <a:t>Variables:</a:t>
            </a:r>
          </a:p>
          <a:p>
            <a:pPr lvl="3">
              <a:buFont typeface="Wingdings" panose="05000000000000000000" pitchFamily="2" charset="2"/>
              <a:buChar char="q"/>
            </a:pPr>
            <a:r>
              <a:rPr lang="en-US" dirty="0"/>
              <a:t>Two disease characteristics</a:t>
            </a:r>
          </a:p>
          <a:p>
            <a:pPr lvl="3">
              <a:buFont typeface="Wingdings" panose="05000000000000000000" pitchFamily="2" charset="2"/>
              <a:buChar char="q"/>
            </a:pPr>
            <a:r>
              <a:rPr lang="en-US" dirty="0"/>
              <a:t>Risk scores derived in first wave of analysis</a:t>
            </a:r>
          </a:p>
          <a:p>
            <a:r>
              <a:rPr lang="en-US" dirty="0"/>
              <a:t>Hurdles:</a:t>
            </a:r>
          </a:p>
          <a:p>
            <a:pPr lvl="3">
              <a:buFont typeface="Wingdings" panose="05000000000000000000" pitchFamily="2" charset="2"/>
              <a:buChar char="q"/>
            </a:pPr>
            <a:r>
              <a:rPr lang="en-US" dirty="0"/>
              <a:t>Clustering does not handle missing values</a:t>
            </a:r>
          </a:p>
          <a:p>
            <a:pPr lvl="3">
              <a:buFont typeface="Wingdings" panose="05000000000000000000" pitchFamily="2" charset="2"/>
              <a:buChar char="q"/>
            </a:pPr>
            <a:r>
              <a:rPr lang="en-US" dirty="0"/>
              <a:t>Clustering does not handle non-numeric data due to distance calculations</a:t>
            </a:r>
          </a:p>
          <a:p>
            <a:pPr marL="914400" lvl="2" indent="0">
              <a:buNone/>
            </a:pPr>
            <a:endParaRPr lang="en-US" dirty="0"/>
          </a:p>
        </p:txBody>
      </p:sp>
    </p:spTree>
    <p:extLst>
      <p:ext uri="{BB962C8B-B14F-4D97-AF65-F5344CB8AC3E}">
        <p14:creationId xmlns:p14="http://schemas.microsoft.com/office/powerpoint/2010/main" val="310078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4D554-A5F9-47D2-84CB-4A74D96E6679}"/>
              </a:ext>
            </a:extLst>
          </p:cNvPr>
          <p:cNvSpPr>
            <a:spLocks noGrp="1"/>
          </p:cNvSpPr>
          <p:nvPr>
            <p:ph type="title"/>
          </p:nvPr>
        </p:nvSpPr>
        <p:spPr>
          <a:xfrm>
            <a:off x="187929" y="0"/>
            <a:ext cx="9404723" cy="1400530"/>
          </a:xfrm>
        </p:spPr>
        <p:txBody>
          <a:bodyPr/>
          <a:lstStyle/>
          <a:p>
            <a:r>
              <a:rPr lang="en-US" dirty="0"/>
              <a:t>Q3: k-means with 3 clusters</a:t>
            </a:r>
          </a:p>
        </p:txBody>
      </p:sp>
      <p:sp>
        <p:nvSpPr>
          <p:cNvPr id="3" name="Content Placeholder 2">
            <a:extLst>
              <a:ext uri="{FF2B5EF4-FFF2-40B4-BE49-F238E27FC236}">
                <a16:creationId xmlns:a16="http://schemas.microsoft.com/office/drawing/2014/main" id="{AEFF5982-D17E-4526-BEA4-12727722FDB7}"/>
              </a:ext>
            </a:extLst>
          </p:cNvPr>
          <p:cNvSpPr>
            <a:spLocks noGrp="1"/>
          </p:cNvSpPr>
          <p:nvPr>
            <p:ph idx="1"/>
          </p:nvPr>
        </p:nvSpPr>
        <p:spPr>
          <a:xfrm>
            <a:off x="4890290" y="6301590"/>
            <a:ext cx="8946541" cy="480646"/>
          </a:xfrm>
        </p:spPr>
        <p:txBody>
          <a:bodyPr>
            <a:normAutofit/>
          </a:bodyPr>
          <a:lstStyle/>
          <a:p>
            <a:pPr marL="0" indent="0">
              <a:buNone/>
            </a:pPr>
            <a:r>
              <a:rPr lang="en-US" sz="1800" i="1" dirty="0"/>
              <a:t>Disease characteristics clustered against risk score metrics</a:t>
            </a:r>
          </a:p>
        </p:txBody>
      </p:sp>
      <p:pic>
        <p:nvPicPr>
          <p:cNvPr id="6" name="Picture 5">
            <a:extLst>
              <a:ext uri="{FF2B5EF4-FFF2-40B4-BE49-F238E27FC236}">
                <a16:creationId xmlns:a16="http://schemas.microsoft.com/office/drawing/2014/main" id="{F3AE1757-2648-4F20-9182-6FA2DF909FEE}"/>
              </a:ext>
            </a:extLst>
          </p:cNvPr>
          <p:cNvPicPr>
            <a:picLocks noChangeAspect="1"/>
          </p:cNvPicPr>
          <p:nvPr/>
        </p:nvPicPr>
        <p:blipFill>
          <a:blip r:embed="rId3"/>
          <a:stretch>
            <a:fillRect/>
          </a:stretch>
        </p:blipFill>
        <p:spPr>
          <a:xfrm>
            <a:off x="564777" y="788654"/>
            <a:ext cx="10471106" cy="5440388"/>
          </a:xfrm>
          <a:prstGeom prst="rect">
            <a:avLst/>
          </a:prstGeom>
        </p:spPr>
      </p:pic>
    </p:spTree>
    <p:extLst>
      <p:ext uri="{BB962C8B-B14F-4D97-AF65-F5344CB8AC3E}">
        <p14:creationId xmlns:p14="http://schemas.microsoft.com/office/powerpoint/2010/main" val="2639846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D3C04-2FF5-40E1-9CBF-A44CE0B809FA}"/>
              </a:ext>
            </a:extLst>
          </p:cNvPr>
          <p:cNvSpPr>
            <a:spLocks noGrp="1"/>
          </p:cNvSpPr>
          <p:nvPr>
            <p:ph type="title"/>
          </p:nvPr>
        </p:nvSpPr>
        <p:spPr/>
        <p:txBody>
          <a:bodyPr/>
          <a:lstStyle/>
          <a:p>
            <a:r>
              <a:rPr lang="en-US" dirty="0"/>
              <a:t>Summary &amp; Next Steps</a:t>
            </a:r>
          </a:p>
        </p:txBody>
      </p:sp>
      <p:sp>
        <p:nvSpPr>
          <p:cNvPr id="3" name="Content Placeholder 2">
            <a:extLst>
              <a:ext uri="{FF2B5EF4-FFF2-40B4-BE49-F238E27FC236}">
                <a16:creationId xmlns:a16="http://schemas.microsoft.com/office/drawing/2014/main" id="{EBF22B85-5FBC-4158-9552-2F906DF12870}"/>
              </a:ext>
            </a:extLst>
          </p:cNvPr>
          <p:cNvSpPr>
            <a:spLocks noGrp="1"/>
          </p:cNvSpPr>
          <p:nvPr>
            <p:ph idx="1"/>
          </p:nvPr>
        </p:nvSpPr>
        <p:spPr>
          <a:xfrm>
            <a:off x="370390" y="1539434"/>
            <a:ext cx="10799180" cy="4708966"/>
          </a:xfrm>
        </p:spPr>
        <p:txBody>
          <a:bodyPr/>
          <a:lstStyle/>
          <a:p>
            <a:r>
              <a:rPr lang="en-US" dirty="0"/>
              <a:t>Previous studies showed a connection between 46 SNPs and risk of developing vitiligo</a:t>
            </a:r>
          </a:p>
          <a:p>
            <a:endParaRPr lang="en-US" dirty="0"/>
          </a:p>
          <a:p>
            <a:r>
              <a:rPr lang="en-US" dirty="0"/>
              <a:t>When explaining disease characteristics, none of the SNPs were statistically significant with a genome-wide adjustment</a:t>
            </a:r>
          </a:p>
          <a:p>
            <a:endParaRPr lang="en-US" dirty="0"/>
          </a:p>
          <a:p>
            <a:r>
              <a:rPr lang="en-US" dirty="0"/>
              <a:t>Not enough time to fully explore the question of discernible data structure to its full extent, but there is room for exploration</a:t>
            </a:r>
          </a:p>
        </p:txBody>
      </p:sp>
    </p:spTree>
    <p:extLst>
      <p:ext uri="{BB962C8B-B14F-4D97-AF65-F5344CB8AC3E}">
        <p14:creationId xmlns:p14="http://schemas.microsoft.com/office/powerpoint/2010/main" val="1137529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C0E48A-7B98-4C6C-85ED-B8541457A67C}"/>
              </a:ext>
            </a:extLst>
          </p:cNvPr>
          <p:cNvSpPr>
            <a:spLocks noGrp="1"/>
          </p:cNvSpPr>
          <p:nvPr>
            <p:ph type="title"/>
          </p:nvPr>
        </p:nvSpPr>
        <p:spPr>
          <a:xfrm>
            <a:off x="1393639" y="2728735"/>
            <a:ext cx="9404723" cy="1400530"/>
          </a:xfrm>
        </p:spPr>
        <p:txBody>
          <a:bodyPr/>
          <a:lstStyle/>
          <a:p>
            <a:pPr algn="ctr"/>
            <a:r>
              <a:rPr lang="en-US" dirty="0"/>
              <a:t>Thank You</a:t>
            </a:r>
          </a:p>
        </p:txBody>
      </p:sp>
    </p:spTree>
    <p:extLst>
      <p:ext uri="{BB962C8B-B14F-4D97-AF65-F5344CB8AC3E}">
        <p14:creationId xmlns:p14="http://schemas.microsoft.com/office/powerpoint/2010/main" val="27515065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272</TotalTime>
  <Words>1394</Words>
  <Application>Microsoft Office PowerPoint</Application>
  <PresentationFormat>Widescreen</PresentationFormat>
  <Paragraphs>251</Paragraphs>
  <Slides>15</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Cambria Math</vt:lpstr>
      <vt:lpstr>Century Gothic</vt:lpstr>
      <vt:lpstr>Times New Roman</vt:lpstr>
      <vt:lpstr>Wingdings</vt:lpstr>
      <vt:lpstr>Wingdings 3</vt:lpstr>
      <vt:lpstr>Ion</vt:lpstr>
      <vt:lpstr>CONSULTING PROJECT:  VITILIGO DISEASE CHARACTERISTICS </vt:lpstr>
      <vt:lpstr>Project Overview</vt:lpstr>
      <vt:lpstr>Data</vt:lpstr>
      <vt:lpstr>Client Questions</vt:lpstr>
      <vt:lpstr>Disease characteristics of interest</vt:lpstr>
      <vt:lpstr>Q1 Models</vt:lpstr>
      <vt:lpstr>Accounting for Genetic Covariates</vt:lpstr>
      <vt:lpstr>Q1 Genetic Variants – Age of Onset </vt:lpstr>
      <vt:lpstr>Q1 Genetic Variants – Skin Coverage</vt:lpstr>
      <vt:lpstr>Q2: Minimum Effect Sizes &amp; Power</vt:lpstr>
      <vt:lpstr>Q2: Minimum Effect Sizes</vt:lpstr>
      <vt:lpstr>Q3: Discernible Data Structure?</vt:lpstr>
      <vt:lpstr>Q3: k-means with 3 clusters</vt:lpstr>
      <vt:lpstr>Summary &amp; Next Steps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CONSULTING PROJECT:  VITILIGO DISEASE CHARACTERISTICS </dc:title>
  <dc:creator>Robles Munoz, Sandra</dc:creator>
  <cp:lastModifiedBy>Valentinas Sungaila</cp:lastModifiedBy>
  <cp:revision>31</cp:revision>
  <dcterms:created xsi:type="dcterms:W3CDTF">2020-05-11T03:45:52Z</dcterms:created>
  <dcterms:modified xsi:type="dcterms:W3CDTF">2020-05-13T17:05:01Z</dcterms:modified>
</cp:coreProperties>
</file>