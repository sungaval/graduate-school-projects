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5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2056A683-4B2C-400E-BFFF-E637DF1CE20E}" type="datetimeFigureOut">
              <a:rPr lang="en-US" smtClean="0"/>
              <a:t>5/13/2020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26C1BDD-6E74-4B8B-8D36-E976143712C6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42177807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6A683-4B2C-400E-BFFF-E637DF1CE20E}" type="datetimeFigureOut">
              <a:rPr lang="en-US" smtClean="0"/>
              <a:t>5/13/2020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C1BDD-6E74-4B8B-8D36-E976143712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463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056A683-4B2C-400E-BFFF-E637DF1CE20E}" type="datetimeFigureOut">
              <a:rPr lang="en-US" smtClean="0"/>
              <a:t>5/13/2020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26C1BDD-6E74-4B8B-8D36-E976143712C6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1901312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6A683-4B2C-400E-BFFF-E637DF1CE20E}" type="datetimeFigureOut">
              <a:rPr lang="en-US" smtClean="0"/>
              <a:t>5/13/2020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C1BDD-6E74-4B8B-8D36-E976143712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515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6A683-4B2C-400E-BFFF-E637DF1CE20E}" type="datetimeFigureOut">
              <a:rPr lang="en-US" smtClean="0"/>
              <a:t>5/13/2020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C1BDD-6E74-4B8B-8D36-E976143712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335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6A683-4B2C-400E-BFFF-E637DF1CE20E}" type="datetimeFigureOut">
              <a:rPr lang="en-US" smtClean="0"/>
              <a:t>5/13/2020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C1BDD-6E74-4B8B-8D36-E976143712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733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6A683-4B2C-400E-BFFF-E637DF1CE20E}" type="datetimeFigureOut">
              <a:rPr lang="en-US" smtClean="0"/>
              <a:t>5/13/2020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C1BDD-6E74-4B8B-8D36-E976143712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744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056A683-4B2C-400E-BFFF-E637DF1CE20E}" type="datetimeFigureOut">
              <a:rPr lang="en-US" smtClean="0"/>
              <a:t>5/13/2020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26C1BDD-6E74-4B8B-8D36-E976143712C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76147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056A683-4B2C-400E-BFFF-E637DF1CE20E}" type="datetimeFigureOut">
              <a:rPr lang="en-US" smtClean="0"/>
              <a:t>5/13/2020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26C1BDD-6E74-4B8B-8D36-E976143712C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20325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6A683-4B2C-400E-BFFF-E637DF1CE20E}" type="datetimeFigureOut">
              <a:rPr lang="en-US" smtClean="0"/>
              <a:t>5/13/2020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C1BDD-6E74-4B8B-8D36-E976143712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224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6A683-4B2C-400E-BFFF-E637DF1CE20E}" type="datetimeFigureOut">
              <a:rPr lang="en-US" smtClean="0"/>
              <a:t>5/13/2020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C1BDD-6E74-4B8B-8D36-E976143712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712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2056A683-4B2C-400E-BFFF-E637DF1CE20E}" type="datetimeFigureOut">
              <a:rPr lang="en-US" smtClean="0"/>
              <a:t>5/13/2020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26C1BDD-6E74-4B8B-8D36-E976143712C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52557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7">
            <a:extLst>
              <a:ext uri="{FF2B5EF4-FFF2-40B4-BE49-F238E27FC236}">
                <a16:creationId xmlns:a16="http://schemas.microsoft.com/office/drawing/2014/main" id="{EC2B4A13-0632-456F-A66A-2D0CDB9D3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: Shape 9">
            <a:extLst>
              <a:ext uri="{FF2B5EF4-FFF2-40B4-BE49-F238E27FC236}">
                <a16:creationId xmlns:a16="http://schemas.microsoft.com/office/drawing/2014/main" id="{1568A552-34C4-41D2-A36B-9E86EC569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 flipH="1">
            <a:off x="1730653" y="-921117"/>
            <a:ext cx="1756584" cy="4408488"/>
          </a:xfrm>
          <a:custGeom>
            <a:avLst/>
            <a:gdLst>
              <a:gd name="connsiteX0" fmla="*/ 1756584 w 1756584"/>
              <a:gd name="connsiteY0" fmla="*/ 4408488 h 4408488"/>
              <a:gd name="connsiteX1" fmla="*/ 1756584 w 1756584"/>
              <a:gd name="connsiteY1" fmla="*/ 0 h 4408488"/>
              <a:gd name="connsiteX2" fmla="*/ 1350810 w 1756584"/>
              <a:gd name="connsiteY2" fmla="*/ 0 h 4408488"/>
              <a:gd name="connsiteX3" fmla="*/ 1350810 w 1756584"/>
              <a:gd name="connsiteY3" fmla="*/ 4024068 h 4408488"/>
              <a:gd name="connsiteX4" fmla="*/ 0 w 1756584"/>
              <a:gd name="connsiteY4" fmla="*/ 4023445 h 4408488"/>
              <a:gd name="connsiteX5" fmla="*/ 0 w 1756584"/>
              <a:gd name="connsiteY5" fmla="*/ 4408488 h 4408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56584" h="4408488">
                <a:moveTo>
                  <a:pt x="1756584" y="4408488"/>
                </a:moveTo>
                <a:lnTo>
                  <a:pt x="1756584" y="0"/>
                </a:lnTo>
                <a:lnTo>
                  <a:pt x="1350810" y="0"/>
                </a:lnTo>
                <a:lnTo>
                  <a:pt x="1350810" y="4024068"/>
                </a:lnTo>
                <a:lnTo>
                  <a:pt x="0" y="4023445"/>
                </a:lnTo>
                <a:lnTo>
                  <a:pt x="0" y="4408488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8BE655E-142C-41C9-895E-54D55EDDAF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 flipV="1">
            <a:off x="8673443" y="2182330"/>
            <a:ext cx="1755930" cy="4408488"/>
          </a:xfrm>
          <a:custGeom>
            <a:avLst/>
            <a:gdLst>
              <a:gd name="connsiteX0" fmla="*/ 0 w 1755930"/>
              <a:gd name="connsiteY0" fmla="*/ 4023420 h 4408488"/>
              <a:gd name="connsiteX1" fmla="*/ 1 w 1755930"/>
              <a:gd name="connsiteY1" fmla="*/ 4408488 h 4408488"/>
              <a:gd name="connsiteX2" fmla="*/ 1755930 w 1755930"/>
              <a:gd name="connsiteY2" fmla="*/ 4408488 h 4408488"/>
              <a:gd name="connsiteX3" fmla="*/ 1755930 w 1755930"/>
              <a:gd name="connsiteY3" fmla="*/ 0 h 4408488"/>
              <a:gd name="connsiteX4" fmla="*/ 1350156 w 1755930"/>
              <a:gd name="connsiteY4" fmla="*/ 0 h 4408488"/>
              <a:gd name="connsiteX5" fmla="*/ 1350156 w 1755930"/>
              <a:gd name="connsiteY5" fmla="*/ 4023628 h 4408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55930" h="4408488">
                <a:moveTo>
                  <a:pt x="0" y="4023420"/>
                </a:moveTo>
                <a:lnTo>
                  <a:pt x="1" y="4408488"/>
                </a:lnTo>
                <a:lnTo>
                  <a:pt x="1755930" y="4408488"/>
                </a:lnTo>
                <a:lnTo>
                  <a:pt x="1755930" y="0"/>
                </a:lnTo>
                <a:lnTo>
                  <a:pt x="1350156" y="0"/>
                </a:lnTo>
                <a:lnTo>
                  <a:pt x="1350156" y="4023628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A00071-AEE9-4897-BFB9-B9473E3BF0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4006" y="1086143"/>
            <a:ext cx="9969910" cy="3540448"/>
          </a:xfrm>
        </p:spPr>
        <p:txBody>
          <a:bodyPr anchor="b">
            <a:normAutofit/>
          </a:bodyPr>
          <a:lstStyle/>
          <a:p>
            <a:r>
              <a:rPr lang="en-US" sz="6100" dirty="0"/>
              <a:t>Methods Presentation: Power Analysis for multiple regression with continuous response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5E116D-39E4-4736-88E8-10689BF1C8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2858" y="5515897"/>
            <a:ext cx="10674117" cy="71522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Valentinas Sungaila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98CC593-9FF4-46EF-81AE-2D26922F15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6453386"/>
            <a:ext cx="12191998" cy="40461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16976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B213F-7102-4399-B2A1-04F5F7FDF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003041"/>
          </a:xfrm>
        </p:spPr>
        <p:txBody>
          <a:bodyPr/>
          <a:lstStyle/>
          <a:p>
            <a:r>
              <a:rPr lang="en-US" dirty="0"/>
              <a:t>What is power?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A46C94-9281-4C1E-934C-C6114097B8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62269" y="1828800"/>
                <a:ext cx="9601200" cy="4581331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Given a test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/>
                  <a:t> vs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 for a statistic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Power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endChr m:val="|"/>
                        <m:ctrlPr>
                          <a:rPr lang="en-US" sz="2400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𝑅𝑒𝑗𝑒𝑐𝑡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𝑡𝑟𝑢𝑒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US" sz="2400" dirty="0"/>
              </a:p>
              <a:p>
                <a:pPr lvl="1"/>
                <a:r>
                  <a:rPr lang="en-US" sz="2400" i="0" dirty="0"/>
                  <a:t>Probability of rejecting the null hypothesis when it is false</a:t>
                </a:r>
              </a:p>
              <a:p>
                <a:pPr lvl="1"/>
                <a:endParaRPr lang="en-US" sz="2400" i="0" dirty="0"/>
              </a:p>
              <a:p>
                <a:r>
                  <a:rPr lang="en-US" sz="2400" dirty="0"/>
                  <a:t>Usually power has a threshold of 80%</a:t>
                </a:r>
              </a:p>
              <a:p>
                <a:pPr lvl="1"/>
                <a:r>
                  <a:rPr lang="en-US" sz="2400" dirty="0"/>
                  <a:t>80%  power  means  you  have  an  80%  chance  of  getting  a  significant  results  when  there is an effect</a:t>
                </a:r>
              </a:p>
              <a:p>
                <a:pPr lvl="1"/>
                <a:r>
                  <a:rPr lang="en-US" sz="2400" i="0" dirty="0"/>
                  <a:t>Highly dependent on scientific field</a:t>
                </a:r>
              </a:p>
              <a:p>
                <a:pPr lvl="1"/>
                <a:endParaRPr lang="en-US" i="0" dirty="0"/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A46C94-9281-4C1E-934C-C6114097B8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62269" y="1828800"/>
                <a:ext cx="9601200" cy="4581331"/>
              </a:xfrm>
              <a:blipFill>
                <a:blip r:embed="rId2"/>
                <a:stretch>
                  <a:fillRect l="-889" t="-14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9072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EBEAC-3971-4040-B9A4-FDEE25CEF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919065"/>
          </a:xfrm>
        </p:spPr>
        <p:txBody>
          <a:bodyPr/>
          <a:lstStyle/>
          <a:p>
            <a:r>
              <a:rPr lang="en-US" dirty="0"/>
              <a:t>A Little Background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AB4A49B-B45F-40DD-973A-44CFE01B6E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0850453"/>
              </p:ext>
            </p:extLst>
          </p:nvPr>
        </p:nvGraphicFramePr>
        <p:xfrm>
          <a:off x="1334278" y="2090057"/>
          <a:ext cx="9955764" cy="14649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8588">
                  <a:extLst>
                    <a:ext uri="{9D8B030D-6E8A-4147-A177-3AD203B41FA5}">
                      <a16:colId xmlns:a16="http://schemas.microsoft.com/office/drawing/2014/main" val="4276513446"/>
                    </a:ext>
                  </a:extLst>
                </a:gridCol>
                <a:gridCol w="3318588">
                  <a:extLst>
                    <a:ext uri="{9D8B030D-6E8A-4147-A177-3AD203B41FA5}">
                      <a16:colId xmlns:a16="http://schemas.microsoft.com/office/drawing/2014/main" val="718153376"/>
                    </a:ext>
                  </a:extLst>
                </a:gridCol>
                <a:gridCol w="3318588">
                  <a:extLst>
                    <a:ext uri="{9D8B030D-6E8A-4147-A177-3AD203B41FA5}">
                      <a16:colId xmlns:a16="http://schemas.microsoft.com/office/drawing/2014/main" val="1689248961"/>
                    </a:ext>
                  </a:extLst>
                </a:gridCol>
              </a:tblGrid>
              <a:tr h="488302"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Null Hypothesis is 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Null Hypothesis is 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1304359"/>
                  </a:ext>
                </a:extLst>
              </a:tr>
              <a:tr h="488302">
                <a:tc>
                  <a:txBody>
                    <a:bodyPr/>
                    <a:lstStyle/>
                    <a:p>
                      <a:r>
                        <a:rPr lang="en-US" sz="2000" dirty="0"/>
                        <a:t>Accept Null Hypothesis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True Negative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False Negative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7516836"/>
                  </a:ext>
                </a:extLst>
              </a:tr>
              <a:tr h="488302">
                <a:tc>
                  <a:txBody>
                    <a:bodyPr/>
                    <a:lstStyle/>
                    <a:p>
                      <a:r>
                        <a:rPr lang="en-US" sz="2000" dirty="0"/>
                        <a:t>Reject Null Hypothesis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False 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True Positive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162015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D13FB59-9291-459D-9B96-96E79BF1C013}"/>
              </a:ext>
            </a:extLst>
          </p:cNvPr>
          <p:cNvSpPr txBox="1"/>
          <p:nvPr/>
        </p:nvSpPr>
        <p:spPr>
          <a:xfrm>
            <a:off x="1352939" y="3760237"/>
            <a:ext cx="9703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Note: Type I Error = False Positive, Type II Error = False Negative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4172D89-E66A-4C4A-8492-8C1AF1B54404}"/>
                  </a:ext>
                </a:extLst>
              </p:cNvPr>
              <p:cNvSpPr txBox="1"/>
              <p:nvPr/>
            </p:nvSpPr>
            <p:spPr>
              <a:xfrm>
                <a:off x="1380930" y="4422710"/>
                <a:ext cx="5881867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l-GR" dirty="0">
                    <a:solidFill>
                      <a:srgbClr val="FF0000"/>
                    </a:solidFill>
                  </a:rPr>
                  <a:t>α</a:t>
                </a:r>
                <a:r>
                  <a:rPr lang="en-US" dirty="0"/>
                  <a:t> = P(Type I Error)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𝑅𝑒𝑗𝑒𝑐𝑡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𝑡𝑟𝑢𝑒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l-GR" dirty="0">
                    <a:solidFill>
                      <a:srgbClr val="00B0F0"/>
                    </a:solidFill>
                  </a:rPr>
                  <a:t>β</a:t>
                </a:r>
                <a:r>
                  <a:rPr lang="en-US" dirty="0"/>
                  <a:t> = P(Type II Error)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𝐴𝑐𝑐𝑒𝑝𝑡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𝑡𝑟𝑢𝑒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Power = 1 – P(Type II Error) = 1 -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𝐴𝑐𝑐𝑒𝑝𝑡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𝑡𝑟𝑢𝑒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4172D89-E66A-4C4A-8492-8C1AF1B544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0930" y="4422710"/>
                <a:ext cx="5881867" cy="1477328"/>
              </a:xfrm>
              <a:prstGeom prst="rect">
                <a:avLst/>
              </a:prstGeom>
              <a:blipFill>
                <a:blip r:embed="rId2"/>
                <a:stretch>
                  <a:fillRect l="-934" t="-2479" b="-57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5157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A67C4-AD1B-4735-82CD-8FE79B160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844420"/>
          </a:xfrm>
        </p:spPr>
        <p:txBody>
          <a:bodyPr/>
          <a:lstStyle/>
          <a:p>
            <a:r>
              <a:rPr lang="en-US" dirty="0"/>
              <a:t>Visualizing Power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D382CB0-A18F-40D7-9A31-4E0F82AD48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90628" y="1401456"/>
            <a:ext cx="8349477" cy="503666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4247B0B-D73C-408B-888D-BD5B127B3D5E}"/>
              </a:ext>
            </a:extLst>
          </p:cNvPr>
          <p:cNvSpPr txBox="1"/>
          <p:nvPr/>
        </p:nvSpPr>
        <p:spPr>
          <a:xfrm>
            <a:off x="1922106" y="6494106"/>
            <a:ext cx="86681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Source: </a:t>
            </a:r>
            <a:r>
              <a:rPr lang="nl-NL" sz="1200" dirty="0"/>
              <a:t>Nathaniel E. Helwig (U of Minnesota)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083747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91DB0-28C8-4AE5-86F1-9E7BB579F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891073"/>
          </a:xfrm>
        </p:spPr>
        <p:txBody>
          <a:bodyPr/>
          <a:lstStyle/>
          <a:p>
            <a:r>
              <a:rPr lang="en-US" dirty="0"/>
              <a:t>Things that Affect Power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483EA9-96B6-4B76-9532-ADB67297B7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1600" y="1688841"/>
                <a:ext cx="9601200" cy="458133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Power is related to three other parameters</a:t>
                </a:r>
              </a:p>
              <a:p>
                <a:endParaRPr lang="en-US" dirty="0"/>
              </a:p>
              <a:p>
                <a:pPr lvl="1"/>
                <a:r>
                  <a:rPr lang="en-US" dirty="0"/>
                  <a:t>Significance level (α)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endChr m:val="|"/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𝑅𝑒𝑗𝑒𝑐𝑡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𝑡𝑟𝑢𝑒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Usually α = 0.05</a:t>
                </a:r>
              </a:p>
              <a:p>
                <a:pPr lvl="2"/>
                <a:endParaRPr lang="en-US" dirty="0"/>
              </a:p>
              <a:p>
                <a:pPr lvl="1"/>
                <a:r>
                  <a:rPr lang="en-US" dirty="0"/>
                  <a:t>Effect Size:  Strength of Some Phenomenon</a:t>
                </a:r>
              </a:p>
              <a:p>
                <a:pPr lvl="2"/>
                <a:r>
                  <a:rPr lang="en-US" dirty="0"/>
                  <a:t>Correlation coefficient</a:t>
                </a:r>
              </a:p>
              <a:p>
                <a:pPr lvl="2"/>
                <a:r>
                  <a:rPr lang="en-US" dirty="0"/>
                  <a:t>Strength of association between x and y</a:t>
                </a:r>
              </a:p>
              <a:p>
                <a:pPr lvl="2"/>
                <a:r>
                  <a:rPr lang="en-US" dirty="0"/>
                  <a:t>Difference between means</a:t>
                </a:r>
              </a:p>
              <a:p>
                <a:pPr lvl="2"/>
                <a:endParaRPr lang="en-US" dirty="0"/>
              </a:p>
              <a:p>
                <a:pPr lvl="1"/>
                <a:r>
                  <a:rPr lang="en-US" dirty="0"/>
                  <a:t>Sample Size</a:t>
                </a:r>
              </a:p>
              <a:p>
                <a:pPr lvl="2"/>
                <a:r>
                  <a:rPr lang="en-US" dirty="0"/>
                  <a:t>Number of observations in the data</a:t>
                </a:r>
              </a:p>
              <a:p>
                <a:pPr lvl="2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483EA9-96B6-4B76-9532-ADB67297B7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600" y="1688841"/>
                <a:ext cx="9601200" cy="4581330"/>
              </a:xfrm>
              <a:blipFill>
                <a:blip r:embed="rId2"/>
                <a:stretch>
                  <a:fillRect l="-571" t="-10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75961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1258D-4C87-4B30-A4D6-E45B40472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286" y="219269"/>
            <a:ext cx="9601200" cy="881743"/>
          </a:xfrm>
        </p:spPr>
        <p:txBody>
          <a:bodyPr/>
          <a:lstStyle/>
          <a:p>
            <a:r>
              <a:rPr lang="en-US" dirty="0"/>
              <a:t>Multiple Regression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99F08B-6CEB-446D-BBB5-EDCABB1E5E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1600" y="1110344"/>
                <a:ext cx="9601200" cy="56543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/>
                          </m:ctrlPr>
                        </m:sSubPr>
                        <m:e>
                          <m:r>
                            <a:rPr lang="en-US" i="1"/>
                            <m:t>𝑌</m:t>
                          </m:r>
                        </m:e>
                        <m:sub>
                          <m:r>
                            <a:rPr lang="en-US" i="1"/>
                            <m:t>𝑖</m:t>
                          </m:r>
                        </m:sub>
                      </m:sSub>
                      <m:r>
                        <a:rPr lang="en-US" i="1"/>
                        <m:t>= </m:t>
                      </m:r>
                      <m:sSub>
                        <m:sSubPr>
                          <m:ctrlPr>
                            <a:rPr lang="en-US" i="1"/>
                          </m:ctrlPr>
                        </m:sSubPr>
                        <m:e>
                          <m:r>
                            <a:rPr lang="en-US" i="1"/>
                            <m:t>𝛽</m:t>
                          </m:r>
                        </m:e>
                        <m:sub>
                          <m:r>
                            <a:rPr lang="en-US" i="1"/>
                            <m:t>0</m:t>
                          </m:r>
                        </m:sub>
                      </m:sSub>
                      <m:r>
                        <a:rPr lang="en-US" i="1"/>
                        <m:t>+ </m:t>
                      </m:r>
                      <m:sSub>
                        <m:sSubPr>
                          <m:ctrlPr>
                            <a:rPr lang="en-US" i="1"/>
                          </m:ctrlPr>
                        </m:sSubPr>
                        <m:e>
                          <m:r>
                            <a:rPr lang="en-US" i="1"/>
                            <m:t>𝛽</m:t>
                          </m:r>
                        </m:e>
                        <m:sub>
                          <m:r>
                            <a:rPr lang="en-US" i="1"/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/>
                          </m:ctrlPr>
                        </m:sSubPr>
                        <m:e>
                          <m:r>
                            <a:rPr lang="en-US" i="1"/>
                            <m:t>𝑋</m:t>
                          </m:r>
                        </m:e>
                        <m:sub>
                          <m:r>
                            <a:rPr lang="en-US" i="1"/>
                            <m:t>1</m:t>
                          </m:r>
                          <m:r>
                            <a:rPr lang="en-US" i="1"/>
                            <m:t>𝑖</m:t>
                          </m:r>
                        </m:sub>
                      </m:sSub>
                      <m:r>
                        <a:rPr lang="en-US" i="1"/>
                        <m:t>+…+ </m:t>
                      </m:r>
                      <m:sSub>
                        <m:sSubPr>
                          <m:ctrlPr>
                            <a:rPr lang="en-US" i="1"/>
                          </m:ctrlPr>
                        </m:sSubPr>
                        <m:e>
                          <m:r>
                            <a:rPr lang="en-US" i="1"/>
                            <m:t>𝛽</m:t>
                          </m:r>
                        </m:e>
                        <m:sub>
                          <m:r>
                            <a:rPr lang="en-US" i="1"/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i="1"/>
                          </m:ctrlPr>
                        </m:sSubPr>
                        <m:e>
                          <m:r>
                            <a:rPr lang="en-US" i="1"/>
                            <m:t>𝑋</m:t>
                          </m:r>
                        </m:e>
                        <m:sub>
                          <m:r>
                            <a:rPr lang="en-US" i="1"/>
                            <m:t>𝑛𝑖</m:t>
                          </m:r>
                        </m:sub>
                      </m:sSub>
                      <m:r>
                        <a:rPr lang="en-US" i="1"/>
                        <m:t>+ </m:t>
                      </m:r>
                      <m:sSub>
                        <m:sSubPr>
                          <m:ctrlPr>
                            <a:rPr lang="en-US" i="1"/>
                          </m:ctrlPr>
                        </m:sSubPr>
                        <m:e>
                          <m:r>
                            <a:rPr lang="en-US" i="1"/>
                            <m:t>𝜖</m:t>
                          </m:r>
                        </m:e>
                        <m:sub>
                          <m:r>
                            <a:rPr lang="en-US" i="1"/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are the coefficients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the error term</a:t>
                </a:r>
              </a:p>
              <a:p>
                <a:r>
                  <a:rPr lang="en-US" dirty="0"/>
                  <a:t>Can be split up like this</a:t>
                </a:r>
              </a:p>
              <a:p>
                <a:pPr marL="530352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/>
                          </m:ctrlPr>
                        </m:sSubPr>
                        <m:e>
                          <m:r>
                            <a:rPr lang="en-US"/>
                            <m:t>𝑌</m:t>
                          </m:r>
                        </m:e>
                        <m:sub>
                          <m:r>
                            <a:rPr lang="en-US"/>
                            <m:t>𝑖</m:t>
                          </m:r>
                        </m:sub>
                      </m:sSub>
                      <m:r>
                        <a:rPr lang="en-US"/>
                        <m:t>= </m:t>
                      </m:r>
                      <m:sSub>
                        <m:sSubPr>
                          <m:ctrlPr>
                            <a:rPr lang="en-US"/>
                          </m:ctrlPr>
                        </m:sSubPr>
                        <m:e>
                          <m:r>
                            <a:rPr lang="en-US"/>
                            <m:t>𝛽</m:t>
                          </m:r>
                        </m:e>
                        <m:sub>
                          <m:r>
                            <a:rPr lang="en-US"/>
                            <m:t>0</m:t>
                          </m:r>
                        </m:sub>
                      </m:sSub>
                      <m:r>
                        <a:rPr lang="en-US"/>
                        <m:t>+ </m:t>
                      </m:r>
                      <m:sSub>
                        <m:sSubPr>
                          <m:ctrlPr>
                            <a:rPr lang="en-US"/>
                          </m:ctrlPr>
                        </m:sSubPr>
                        <m:e>
                          <m:r>
                            <a:rPr lang="en-US"/>
                            <m:t>𝛽</m:t>
                          </m:r>
                        </m:e>
                        <m:sub>
                          <m:r>
                            <a:rPr lang="en-US"/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/>
                          </m:ctrlPr>
                        </m:sSubPr>
                        <m:e>
                          <m:r>
                            <a:rPr lang="en-US"/>
                            <m:t>𝑇</m:t>
                          </m:r>
                        </m:e>
                        <m:sub>
                          <m:r>
                            <a:rPr lang="en-US"/>
                            <m:t>1</m:t>
                          </m:r>
                          <m:r>
                            <a:rPr lang="en-US"/>
                            <m:t>𝑖</m:t>
                          </m:r>
                        </m:sub>
                      </m:sSub>
                      <m:r>
                        <a:rPr lang="en-US"/>
                        <m:t>+…+ </m:t>
                      </m:r>
                      <m:sSub>
                        <m:sSubPr>
                          <m:ctrlPr>
                            <a:rPr lang="en-US"/>
                          </m:ctrlPr>
                        </m:sSubPr>
                        <m:e>
                          <m:r>
                            <a:rPr lang="en-US"/>
                            <m:t>𝛽</m:t>
                          </m:r>
                        </m:e>
                        <m:sub>
                          <m:r>
                            <a:rPr lang="en-US"/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en-US"/>
                          </m:ctrlPr>
                        </m:sSubPr>
                        <m:e>
                          <m:r>
                            <a:rPr lang="en-US"/>
                            <m:t>𝑇</m:t>
                          </m:r>
                        </m:e>
                        <m:sub>
                          <m:r>
                            <a:rPr lang="en-US"/>
                            <m:t>𝑘𝑖</m:t>
                          </m:r>
                        </m:sub>
                      </m:sSub>
                      <m:r>
                        <a:rPr lang="en-US"/>
                        <m:t>+ </m:t>
                      </m:r>
                      <m:sSub>
                        <m:sSubPr>
                          <m:ctrlPr>
                            <a:rPr lang="en-US"/>
                          </m:ctrlPr>
                        </m:sSubPr>
                        <m:e>
                          <m:r>
                            <a:rPr lang="en-US"/>
                            <m:t>𝜇</m:t>
                          </m:r>
                        </m:e>
                        <m:sub>
                          <m:r>
                            <a:rPr lang="en-US"/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/>
                          </m:ctrlPr>
                        </m:sSubPr>
                        <m:e>
                          <m:r>
                            <a:rPr lang="en-US"/>
                            <m:t>𝐶</m:t>
                          </m:r>
                        </m:e>
                        <m:sub>
                          <m:r>
                            <a:rPr lang="en-US"/>
                            <m:t>1</m:t>
                          </m:r>
                          <m:r>
                            <a:rPr lang="en-US"/>
                            <m:t>𝑖</m:t>
                          </m:r>
                        </m:sub>
                      </m:sSub>
                      <m:r>
                        <a:rPr lang="en-US"/>
                        <m:t>+…+ </m:t>
                      </m:r>
                      <m:sSub>
                        <m:sSubPr>
                          <m:ctrlPr>
                            <a:rPr lang="en-US"/>
                          </m:ctrlPr>
                        </m:sSubPr>
                        <m:e>
                          <m:r>
                            <a:rPr lang="en-US"/>
                            <m:t>𝜇</m:t>
                          </m:r>
                        </m:e>
                        <m:sub>
                          <m:r>
                            <a:rPr lang="en-US"/>
                            <m:t>𝐿</m:t>
                          </m:r>
                        </m:sub>
                      </m:sSub>
                      <m:sSub>
                        <m:sSubPr>
                          <m:ctrlPr>
                            <a:rPr lang="en-US"/>
                          </m:ctrlPr>
                        </m:sSubPr>
                        <m:e>
                          <m:r>
                            <a:rPr lang="en-US"/>
                            <m:t>𝐶</m:t>
                          </m:r>
                        </m:e>
                        <m:sub>
                          <m:r>
                            <a:rPr lang="en-US"/>
                            <m:t>𝐿𝑖</m:t>
                          </m:r>
                        </m:sub>
                      </m:sSub>
                      <m:r>
                        <a:rPr lang="en-US"/>
                        <m:t>+ </m:t>
                      </m:r>
                      <m:sSub>
                        <m:sSubPr>
                          <m:ctrlPr>
                            <a:rPr lang="en-US"/>
                          </m:ctrlPr>
                        </m:sSubPr>
                        <m:e>
                          <m:r>
                            <a:rPr lang="en-US"/>
                            <m:t>𝜖</m:t>
                          </m:r>
                        </m:e>
                        <m:sub>
                          <m:r>
                            <a:rPr lang="en-US"/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dirty="0"/>
                  <a:t>T = Tested: which are the predictors that we want to test </a:t>
                </a:r>
              </a:p>
              <a:p>
                <a:pPr lvl="2"/>
                <a:r>
                  <a:rPr lang="en-US" dirty="0"/>
                  <a:t>k of them and </a:t>
                </a:r>
              </a:p>
              <a:p>
                <a:pPr lvl="1"/>
                <a:r>
                  <a:rPr lang="en-US" dirty="0"/>
                  <a:t>C = Covariates: which are the covariates included in the model </a:t>
                </a:r>
              </a:p>
              <a:p>
                <a:pPr lvl="2"/>
                <a:r>
                  <a:rPr lang="en-US" dirty="0"/>
                  <a:t>L of them</a:t>
                </a:r>
              </a:p>
              <a:p>
                <a:r>
                  <a:rPr lang="en-US" dirty="0"/>
                  <a:t>Conduct an ANOVA test for T coefficients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=…=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0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≠</m:t>
                      </m:r>
                      <m:r>
                        <a:rPr lang="en-US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…</m:t>
                      </m:r>
                      <m:r>
                        <a:rPr lang="en-US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≠</m:t>
                      </m:r>
                      <m:r>
                        <a:rPr lang="en-US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0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Cambria Math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Assumes an F-distribution</a:t>
                </a: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99F08B-6CEB-446D-BBB5-EDCABB1E5E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600" y="1110344"/>
                <a:ext cx="9601200" cy="5654350"/>
              </a:xfrm>
              <a:blipFill>
                <a:blip r:embed="rId2"/>
                <a:stretch>
                  <a:fillRect l="-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05220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08AE5-A4CB-477D-9113-4BA1BA818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592" y="275253"/>
            <a:ext cx="9601200" cy="1348273"/>
          </a:xfrm>
        </p:spPr>
        <p:txBody>
          <a:bodyPr>
            <a:normAutofit/>
          </a:bodyPr>
          <a:lstStyle/>
          <a:p>
            <a:r>
              <a:rPr lang="en-US" dirty="0"/>
              <a:t>Constructing the F-distribution Using Variation Explained in the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3E67092-9D76-40B0-A670-FC1E184086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43608" y="1810138"/>
                <a:ext cx="9601200" cy="5047861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tells us how much variation is explained in the model by the variables included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/>
                        </m:ctrlPr>
                      </m:sSubSupPr>
                      <m:e>
                        <m:r>
                          <a:rPr lang="en-US"/>
                          <m:t>𝑅</m:t>
                        </m:r>
                      </m:e>
                      <m:sub>
                        <m:r>
                          <a:rPr lang="en-US"/>
                          <m:t>𝐶</m:t>
                        </m:r>
                      </m:sub>
                      <m:sup>
                        <m:r>
                          <a:rPr lang="en-US"/>
                          <m:t>2</m:t>
                        </m:r>
                      </m:sup>
                    </m:sSubSup>
                  </m:oMath>
                </a14:m>
                <a:r>
                  <a:rPr lang="en-US" dirty="0"/>
                  <a:t> </a:t>
                </a:r>
                <a:r>
                  <a:rPr lang="en-US" i="0" dirty="0"/>
                  <a:t>is the variation of Y explained by the control predictors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/>
                        </m:ctrlPr>
                      </m:sSubSupPr>
                      <m:e>
                        <m:r>
                          <a:rPr lang="en-US"/>
                          <m:t>𝑅</m:t>
                        </m:r>
                      </m:e>
                      <m:sub>
                        <m:r>
                          <a:rPr lang="en-US"/>
                          <m:t>𝑇</m:t>
                        </m:r>
                        <m:r>
                          <a:rPr lang="en-US"/>
                          <m:t>,</m:t>
                        </m:r>
                        <m:r>
                          <a:rPr lang="en-US"/>
                          <m:t>𝑐</m:t>
                        </m:r>
                      </m:sub>
                      <m:sup>
                        <m:r>
                          <a:rPr lang="en-US"/>
                          <m:t>2</m:t>
                        </m:r>
                      </m:sup>
                    </m:sSubSup>
                  </m:oMath>
                </a14:m>
                <a:r>
                  <a:rPr lang="en-US" dirty="0"/>
                  <a:t> </a:t>
                </a:r>
                <a:r>
                  <a:rPr lang="en-US" i="0" dirty="0"/>
                  <a:t>is the variation of Y explained by both test and control predictors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/>
                        </m:ctrlPr>
                      </m:sSubSupPr>
                      <m:e>
                        <m:r>
                          <a:rPr lang="en-US"/>
                          <m:t>𝑅</m:t>
                        </m:r>
                      </m:e>
                      <m:sub>
                        <m:r>
                          <a:rPr lang="en-US"/>
                          <m:t>𝑇</m:t>
                        </m:r>
                        <m:r>
                          <a:rPr lang="en-US"/>
                          <m:t>|</m:t>
                        </m:r>
                        <m:r>
                          <a:rPr lang="en-US"/>
                          <m:t>𝐶</m:t>
                        </m:r>
                      </m:sub>
                      <m:sup>
                        <m:r>
                          <a:rPr lang="en-US"/>
                          <m:t>2</m:t>
                        </m:r>
                      </m:sup>
                    </m:sSubSup>
                    <m:r>
                      <a:rPr lang="en-US"/>
                      <m:t>= </m:t>
                    </m:r>
                    <m:sSubSup>
                      <m:sSubSupPr>
                        <m:ctrlPr>
                          <a:rPr lang="en-US"/>
                        </m:ctrlPr>
                      </m:sSubSupPr>
                      <m:e>
                        <m:r>
                          <a:rPr lang="en-US"/>
                          <m:t>𝑅</m:t>
                        </m:r>
                      </m:e>
                      <m:sub>
                        <m:r>
                          <a:rPr lang="en-US"/>
                          <m:t>𝑇</m:t>
                        </m:r>
                        <m:r>
                          <a:rPr lang="en-US"/>
                          <m:t>,</m:t>
                        </m:r>
                        <m:r>
                          <a:rPr lang="en-US"/>
                          <m:t>𝑐</m:t>
                        </m:r>
                      </m:sub>
                      <m:sup>
                        <m:r>
                          <a:rPr lang="en-US"/>
                          <m:t>2</m:t>
                        </m:r>
                      </m:sup>
                    </m:sSubSup>
                    <m:r>
                      <a:rPr lang="en-US"/>
                      <m:t>− </m:t>
                    </m:r>
                    <m:sSubSup>
                      <m:sSubSupPr>
                        <m:ctrlPr>
                          <a:rPr lang="en-US"/>
                        </m:ctrlPr>
                      </m:sSubSupPr>
                      <m:e>
                        <m:r>
                          <a:rPr lang="en-US"/>
                          <m:t>𝑅</m:t>
                        </m:r>
                      </m:e>
                      <m:sub>
                        <m:r>
                          <a:rPr lang="en-US"/>
                          <m:t>𝐶</m:t>
                        </m:r>
                      </m:sub>
                      <m:sup>
                        <m:r>
                          <a:rPr lang="en-US"/>
                          <m:t>2</m:t>
                        </m:r>
                      </m:sup>
                    </m:sSubSup>
                  </m:oMath>
                </a14:m>
                <a:r>
                  <a:rPr lang="en-US" dirty="0"/>
                  <a:t> </a:t>
                </a:r>
                <a:r>
                  <a:rPr lang="en-US" i="0" dirty="0"/>
                  <a:t>is the variation of Y explained by the test predictors with control predictors in the model</a:t>
                </a:r>
              </a:p>
              <a:p>
                <a:r>
                  <a:rPr lang="en-US" dirty="0"/>
                  <a:t>Construction of the F-distribution</a:t>
                </a:r>
              </a:p>
              <a:p>
                <a:pPr marL="530352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/>
                          </m:ctrlPr>
                        </m:sSubPr>
                        <m:e>
                          <m:r>
                            <a:rPr lang="en-US"/>
                            <m:t>𝐹</m:t>
                          </m:r>
                        </m:e>
                        <m:sub>
                          <m:r>
                            <a:rPr lang="en-US"/>
                            <m:t>𝐾</m:t>
                          </m:r>
                          <m:r>
                            <a:rPr lang="en-US"/>
                            <m:t>,   </m:t>
                          </m:r>
                          <m:r>
                            <a:rPr lang="en-US"/>
                            <m:t>𝑛</m:t>
                          </m:r>
                          <m:r>
                            <a:rPr lang="en-US"/>
                            <m:t>−</m:t>
                          </m:r>
                          <m:r>
                            <a:rPr lang="en-US"/>
                            <m:t>𝐾</m:t>
                          </m:r>
                          <m:r>
                            <a:rPr lang="en-US"/>
                            <m:t>−</m:t>
                          </m:r>
                          <m:r>
                            <a:rPr lang="en-US"/>
                            <m:t>𝐿</m:t>
                          </m:r>
                          <m:r>
                            <a:rPr lang="en-US"/>
                            <m:t>−1</m:t>
                          </m:r>
                        </m:sub>
                      </m:sSub>
                      <m:r>
                        <a:rPr lang="en-US"/>
                        <m:t>= </m:t>
                      </m:r>
                      <m:f>
                        <m:fPr>
                          <m:ctrlPr>
                            <a:rPr lang="en-US"/>
                          </m:ctrlPr>
                        </m:fPr>
                        <m:num>
                          <m:f>
                            <m:fPr>
                              <m:type m:val="skw"/>
                              <m:ctrlPr>
                                <a:rPr lang="en-US"/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/>
                                  </m:ctrlPr>
                                </m:sSubSupPr>
                                <m:e>
                                  <m:r>
                                    <a:rPr lang="en-US"/>
                                    <m:t>𝑅</m:t>
                                  </m:r>
                                </m:e>
                                <m:sub>
                                  <m:r>
                                    <a:rPr lang="en-US"/>
                                    <m:t>𝑇</m:t>
                                  </m:r>
                                  <m:r>
                                    <a:rPr lang="en-US"/>
                                    <m:t>|</m:t>
                                  </m:r>
                                  <m:r>
                                    <a:rPr lang="en-US"/>
                                    <m:t>𝐶</m:t>
                                  </m:r>
                                </m:sub>
                                <m:sup>
                                  <m:r>
                                    <a:rPr lang="en-US"/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r>
                                <a:rPr lang="en-US"/>
                                <m:t>𝐾</m:t>
                              </m:r>
                            </m:den>
                          </m:f>
                        </m:num>
                        <m:den>
                          <m:f>
                            <m:fPr>
                              <m:type m:val="skw"/>
                              <m:ctrlPr>
                                <a:rPr lang="en-US"/>
                              </m:ctrlPr>
                            </m:fPr>
                            <m:num>
                              <m:r>
                                <a:rPr lang="en-US"/>
                                <m:t>(1− </m:t>
                              </m:r>
                              <m:sSubSup>
                                <m:sSubSupPr>
                                  <m:ctrlPr>
                                    <a:rPr lang="en-US"/>
                                  </m:ctrlPr>
                                </m:sSubSupPr>
                                <m:e>
                                  <m:r>
                                    <a:rPr lang="en-US"/>
                                    <m:t>𝑅</m:t>
                                  </m:r>
                                </m:e>
                                <m:sub>
                                  <m:r>
                                    <a:rPr lang="en-US"/>
                                    <m:t>𝐶</m:t>
                                  </m:r>
                                </m:sub>
                                <m:sup>
                                  <m:r>
                                    <a:rPr lang="en-US"/>
                                    <m:t>2</m:t>
                                  </m:r>
                                </m:sup>
                              </m:sSubSup>
                              <m:r>
                                <a:rPr lang="en-US"/>
                                <m:t>− </m:t>
                              </m:r>
                              <m:sSubSup>
                                <m:sSubSupPr>
                                  <m:ctrlPr>
                                    <a:rPr lang="en-US"/>
                                  </m:ctrlPr>
                                </m:sSubSupPr>
                                <m:e>
                                  <m:r>
                                    <a:rPr lang="en-US"/>
                                    <m:t>𝑅</m:t>
                                  </m:r>
                                </m:e>
                                <m:sub>
                                  <m:r>
                                    <a:rPr lang="en-US"/>
                                    <m:t>𝑇</m:t>
                                  </m:r>
                                  <m:r>
                                    <a:rPr lang="en-US"/>
                                    <m:t>|</m:t>
                                  </m:r>
                                  <m:r>
                                    <a:rPr lang="en-US"/>
                                    <m:t>𝐶</m:t>
                                  </m:r>
                                </m:sub>
                                <m:sup>
                                  <m:r>
                                    <a:rPr lang="en-US"/>
                                    <m:t>2</m:t>
                                  </m:r>
                                </m:sup>
                              </m:sSubSup>
                              <m:r>
                                <a:rPr lang="en-US"/>
                                <m:t>)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−1)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dirty="0"/>
                  <a:t>n = total number of observations</a:t>
                </a:r>
              </a:p>
              <a:p>
                <a:pPr lvl="1"/>
                <a:r>
                  <a:rPr lang="en-US" dirty="0"/>
                  <a:t>K = number of tested variables</a:t>
                </a:r>
              </a:p>
              <a:p>
                <a:pPr lvl="1"/>
                <a:r>
                  <a:rPr lang="en-US" dirty="0"/>
                  <a:t>L = number of covariate </a:t>
                </a:r>
                <a:r>
                  <a:rPr lang="en-US" dirty="0" err="1"/>
                  <a:t>varaibles</a:t>
                </a:r>
                <a:endParaRPr lang="en-US" dirty="0"/>
              </a:p>
              <a:p>
                <a:pPr lvl="1"/>
                <a:endParaRPr lang="en-US" dirty="0"/>
              </a:p>
              <a:p>
                <a:pPr marL="530352" lvl="1" indent="0">
                  <a:buNone/>
                </a:pPr>
                <a:endParaRPr lang="en-US" i="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3E67092-9D76-40B0-A670-FC1E184086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43608" y="1810138"/>
                <a:ext cx="9601200" cy="5047861"/>
              </a:xfrm>
              <a:blipFill>
                <a:blip r:embed="rId2"/>
                <a:stretch>
                  <a:fillRect l="-571" t="-1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72665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6C396-FD96-4039-9284-F5AC31944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6955" y="172617"/>
            <a:ext cx="9601200" cy="779106"/>
          </a:xfrm>
        </p:spPr>
        <p:txBody>
          <a:bodyPr/>
          <a:lstStyle/>
          <a:p>
            <a:r>
              <a:rPr lang="en-US" dirty="0"/>
              <a:t>Central vs Non-Central Distributions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7B3EDF-55DF-44AD-BF91-3E9FB81D63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83567"/>
            <a:ext cx="9601200" cy="4383833"/>
          </a:xfrm>
        </p:spPr>
        <p:txBody>
          <a:bodyPr/>
          <a:lstStyle/>
          <a:p>
            <a:r>
              <a:rPr lang="en-US" dirty="0"/>
              <a:t>Central distribution describes how a test statistic is distributed when the difference tested is null</a:t>
            </a:r>
          </a:p>
          <a:p>
            <a:endParaRPr lang="en-US" dirty="0"/>
          </a:p>
          <a:p>
            <a:r>
              <a:rPr lang="en-US" dirty="0"/>
              <a:t>Non-central distributions describe the distribution of a test statistic when the null is false (so the alternative hypothesis is true)</a:t>
            </a:r>
          </a:p>
          <a:p>
            <a:endParaRPr lang="en-US" dirty="0"/>
          </a:p>
          <a:p>
            <a:r>
              <a:rPr lang="en-US" dirty="0"/>
              <a:t>Non-Centrality parameter </a:t>
            </a:r>
            <a:r>
              <a:rPr lang="el-GR" dirty="0"/>
              <a:t>λ</a:t>
            </a:r>
            <a:r>
              <a:rPr lang="en-US" dirty="0"/>
              <a:t> can be calculated</a:t>
            </a:r>
          </a:p>
          <a:p>
            <a:pPr lvl="1"/>
            <a:r>
              <a:rPr lang="en-US" i="0" dirty="0"/>
              <a:t>If </a:t>
            </a:r>
            <a:r>
              <a:rPr lang="el-GR" dirty="0"/>
              <a:t>λ</a:t>
            </a:r>
            <a:r>
              <a:rPr lang="en-US" dirty="0"/>
              <a:t> = 0</a:t>
            </a:r>
            <a:r>
              <a:rPr lang="en-US" i="0" dirty="0"/>
              <a:t> then you have a central distribution</a:t>
            </a:r>
          </a:p>
          <a:p>
            <a:pPr lvl="1"/>
            <a:r>
              <a:rPr lang="en-US" i="0" dirty="0"/>
              <a:t>If</a:t>
            </a:r>
            <a:r>
              <a:rPr lang="en-US" dirty="0"/>
              <a:t> </a:t>
            </a:r>
            <a:r>
              <a:rPr lang="el-GR" dirty="0"/>
              <a:t>λ</a:t>
            </a:r>
            <a:r>
              <a:rPr lang="en-US" dirty="0"/>
              <a:t> ≠ 0 </a:t>
            </a:r>
            <a:r>
              <a:rPr lang="en-US" i="0" dirty="0"/>
              <a:t>then you have a non-central distribution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26214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D382CB0-A18F-40D7-9A31-4E0F82AD48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90628" y="1401456"/>
            <a:ext cx="8349477" cy="503666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4247B0B-D73C-408B-888D-BD5B127B3D5E}"/>
              </a:ext>
            </a:extLst>
          </p:cNvPr>
          <p:cNvSpPr txBox="1"/>
          <p:nvPr/>
        </p:nvSpPr>
        <p:spPr>
          <a:xfrm>
            <a:off x="1922106" y="6494106"/>
            <a:ext cx="86681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Source: </a:t>
            </a:r>
            <a:r>
              <a:rPr lang="nl-NL" sz="1200" dirty="0"/>
              <a:t>Nathaniel E. Helwig (U of Minnesota)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8025110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8">
            <a:extLst>
              <a:ext uri="{FF2B5EF4-FFF2-40B4-BE49-F238E27FC236}">
                <a16:creationId xmlns:a16="http://schemas.microsoft.com/office/drawing/2014/main" id="{BEC9E7FA-3295-45ED-8253-D23F9E44E1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F508D8-628B-499F-9BA9-C557358A13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22" t="4369" r="4032" b="9728"/>
          <a:stretch/>
        </p:blipFill>
        <p:spPr>
          <a:xfrm>
            <a:off x="742915" y="1306285"/>
            <a:ext cx="7029485" cy="431577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0FE41C-C0C2-4A7C-B5D3-78706FB101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005666" y="1324946"/>
                <a:ext cx="3744686" cy="379755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The non-centrality parameter for an F-Distribution can be calculated as </a:t>
                </a: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80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280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280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  <m:sup>
                              <m:r>
                                <a:rPr lang="en-US" sz="28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1 −</m:t>
                          </m:r>
                          <m:sSubSup>
                            <m:sSub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  <m:sup>
                              <m:r>
                                <a:rPr lang="en-US" sz="28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sSubSup>
                            <m:sSub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80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280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280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  <m:sup>
                              <m:r>
                                <a:rPr lang="en-US" sz="28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0FE41C-C0C2-4A7C-B5D3-78706FB101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005666" y="1324946"/>
                <a:ext cx="3744686" cy="3797559"/>
              </a:xfrm>
              <a:blipFill>
                <a:blip r:embed="rId3"/>
                <a:stretch>
                  <a:fillRect l="-1626" t="-1284" r="-1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42019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23301-40C1-4A2D-ACF0-CC6BCC282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844420"/>
          </a:xfrm>
        </p:spPr>
        <p:txBody>
          <a:bodyPr/>
          <a:lstStyle/>
          <a:p>
            <a:r>
              <a:rPr lang="en-US" dirty="0"/>
              <a:t>Calculating Power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31500C-4E0A-4970-AEFF-205C717DEA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1600" y="1642188"/>
                <a:ext cx="9601200" cy="4907902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Step 1 </a:t>
                </a:r>
              </a:p>
              <a:p>
                <a:pPr lvl="1"/>
                <a:r>
                  <a:rPr lang="en-US" i="0" dirty="0"/>
                  <a:t>Find the critical value (b) of the test’s statistic using a desired </a:t>
                </a:r>
                <a:r>
                  <a:rPr lang="en-US" dirty="0"/>
                  <a:t>α 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𝐹</m:t>
                        </m:r>
                      </m:e>
                      <m:sub>
                        <m:r>
                          <a:rPr lang="en-US" i="1"/>
                          <m:t>𝐾</m:t>
                        </m:r>
                        <m:r>
                          <a:rPr lang="en-US" i="1"/>
                          <m:t>,   </m:t>
                        </m:r>
                        <m:r>
                          <a:rPr lang="en-US" i="1"/>
                          <m:t>𝑛</m:t>
                        </m:r>
                        <m:r>
                          <a:rPr lang="en-US" i="1"/>
                          <m:t>−</m:t>
                        </m:r>
                        <m:r>
                          <a:rPr lang="en-US" i="1"/>
                          <m:t>𝐾</m:t>
                        </m:r>
                        <m:r>
                          <a:rPr lang="en-US" i="1"/>
                          <m:t>−</m:t>
                        </m:r>
                        <m:r>
                          <a:rPr lang="en-US" i="1"/>
                          <m:t>𝐿</m:t>
                        </m:r>
                        <m:r>
                          <a:rPr lang="en-US" i="1"/>
                          <m:t>−1,   </m:t>
                        </m:r>
                        <m:r>
                          <a:rPr lang="en-US" i="1"/>
                          <m:t>𝛼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Step 2 </a:t>
                </a:r>
              </a:p>
              <a:p>
                <a:pPr lvl="1"/>
                <a:r>
                  <a:rPr lang="en-US" i="0" dirty="0"/>
                  <a:t>Calculate the non centrality parameter </a:t>
                </a:r>
                <a14:m>
                  <m:oMath xmlns:m="http://schemas.openxmlformats.org/officeDocument/2006/math">
                    <m:r>
                      <a:rPr lang="en-US"/>
                      <m:t>𝜆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2"/>
                <a:r>
                  <a:rPr lang="en-US" dirty="0"/>
                  <a:t>Using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1 −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 −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Step 3</a:t>
                </a:r>
              </a:p>
              <a:p>
                <a:pPr lvl="1"/>
                <a:r>
                  <a:rPr lang="en-US" dirty="0"/>
                  <a:t>Compute the power as the probability of being greater than the calculated critical value in a in a noncentral-F distribution with non-centrality parameter λ</a:t>
                </a:r>
              </a:p>
              <a:p>
                <a:pPr lvl="2"/>
                <a:r>
                  <a:rPr lang="en-US" i="1" dirty="0"/>
                  <a:t>Power = </a:t>
                </a:r>
                <a:r>
                  <a:rPr lang="en-US" i="1" dirty="0" err="1"/>
                  <a:t>Pr</a:t>
                </a:r>
                <a:r>
                  <a:rPr lang="en-US" i="1" dirty="0"/>
                  <a:t>[F(k, df, λ) ≥ b],</a:t>
                </a:r>
                <a:r>
                  <a:rPr lang="en-US" dirty="0"/>
                  <a:t> where </a:t>
                </a:r>
                <a14:m>
                  <m:oMath xmlns:m="http://schemas.openxmlformats.org/officeDocument/2006/math">
                    <m:r>
                      <a:rPr lang="en-US" i="1"/>
                      <m:t>𝑑𝑓</m:t>
                    </m:r>
                    <m:r>
                      <a:rPr lang="en-US" i="1"/>
                      <m:t>=</m:t>
                    </m:r>
                    <m:r>
                      <a:rPr lang="en-US" i="1"/>
                      <m:t>𝑛</m:t>
                    </m:r>
                    <m:r>
                      <a:rPr lang="en-US" i="1"/>
                      <m:t>−</m:t>
                    </m:r>
                    <m:r>
                      <a:rPr lang="en-US" i="1"/>
                      <m:t>𝑘</m:t>
                    </m:r>
                    <m:r>
                      <a:rPr lang="en-US" i="1"/>
                      <m:t>−</m:t>
                    </m:r>
                    <m:r>
                      <a:rPr lang="en-US" i="1"/>
                      <m:t>𝐿</m:t>
                    </m:r>
                    <m:r>
                      <a:rPr lang="en-US" i="1"/>
                      <m:t>−1</m:t>
                    </m:r>
                  </m:oMath>
                </a14:m>
                <a:r>
                  <a:rPr lang="en-US" dirty="0"/>
                  <a:t> and </a:t>
                </a:r>
                <a:r>
                  <a:rPr lang="en-US" i="1" dirty="0"/>
                  <a:t>F(k, df, λ)</a:t>
                </a:r>
                <a:r>
                  <a:rPr lang="en-US" dirty="0"/>
                  <a:t> denotes a random variable with a non-central F distribution</a:t>
                </a:r>
              </a:p>
              <a:p>
                <a:r>
                  <a:rPr lang="en-US" dirty="0"/>
                  <a:t>Can be done fast using R</a:t>
                </a:r>
              </a:p>
              <a:p>
                <a:pPr lvl="1"/>
                <a:r>
                  <a:rPr lang="en-US" dirty="0"/>
                  <a:t>Pwr.f2.test function </a:t>
                </a:r>
                <a:r>
                  <a:rPr lang="en-US" dirty="0" err="1"/>
                  <a:t>pwr</a:t>
                </a:r>
                <a:r>
                  <a:rPr lang="en-US" dirty="0"/>
                  <a:t> package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31500C-4E0A-4970-AEFF-205C717DEA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600" y="1642188"/>
                <a:ext cx="9601200" cy="4907902"/>
              </a:xfrm>
              <a:blipFill>
                <a:blip r:embed="rId2"/>
                <a:stretch>
                  <a:fillRect l="-571" t="-1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64170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1A15F-6D78-4C0B-A62C-05F79EBF9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8294" y="191278"/>
            <a:ext cx="9601200" cy="1264298"/>
          </a:xfrm>
        </p:spPr>
        <p:txBody>
          <a:bodyPr>
            <a:normAutofit fontScale="90000"/>
          </a:bodyPr>
          <a:lstStyle/>
          <a:p>
            <a:r>
              <a:rPr lang="en-US" dirty="0"/>
              <a:t>Changes in Power as Non-Centrality Parameter Changes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5A71CE7-B3C7-488E-B881-31FC172374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9523" y="1623526"/>
            <a:ext cx="9989222" cy="5060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0852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2E83723-D8A1-494C-81B9-D347D13E82D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576572" y="144724"/>
                <a:ext cx="9601200" cy="828368"/>
              </a:xfrm>
            </p:spPr>
            <p:txBody>
              <a:bodyPr/>
              <a:lstStyle/>
              <a:p>
                <a:r>
                  <a:rPr lang="en-US" dirty="0"/>
                  <a:t>Changes in Power 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Changes 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2E83723-D8A1-494C-81B9-D347D13E82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576572" y="144724"/>
                <a:ext cx="9601200" cy="828368"/>
              </a:xfrm>
              <a:blipFill>
                <a:blip r:embed="rId2"/>
                <a:stretch>
                  <a:fillRect l="-2603" t="-24265" b="-183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C6CE6E0-99A6-4DE7-B9F9-B512E36325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521908" y="865335"/>
            <a:ext cx="7508500" cy="5837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7885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83D23-9396-4779-8FE4-5FA2112E1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4947" y="172617"/>
            <a:ext cx="9601200" cy="956387"/>
          </a:xfrm>
        </p:spPr>
        <p:txBody>
          <a:bodyPr/>
          <a:lstStyle/>
          <a:p>
            <a:r>
              <a:rPr lang="en-US" dirty="0"/>
              <a:t>Case Study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DC58FD-420B-49BB-A7D0-C74F1D94E5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1600" y="942393"/>
                <a:ext cx="9601200" cy="5589036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Client posed a question</a:t>
                </a:r>
              </a:p>
              <a:p>
                <a:pPr lvl="1"/>
                <a:r>
                  <a:rPr lang="en-US" i="0" dirty="0"/>
                  <a:t>What effect sizes for disease characteristics are detectable with </a:t>
                </a:r>
                <a:r>
                  <a:rPr lang="en-US" i="0" dirty="0">
                    <a:sym typeface="Symbol" panose="05050102010706020507" pitchFamily="18" charset="2"/>
                  </a:rPr>
                  <a:t> 80% power without adjustment for multiple testing, with adjust for the number of tests in Q1, and with adjustment genome-wide?</a:t>
                </a:r>
              </a:p>
              <a:p>
                <a:r>
                  <a:rPr lang="en-US" dirty="0">
                    <a:sym typeface="Symbol" panose="05050102010706020507" pitchFamily="18" charset="2"/>
                  </a:rPr>
                  <a:t>Dataset contains 2,190 total observations of people with vitiligo </a:t>
                </a:r>
              </a:p>
              <a:p>
                <a:pPr lvl="1"/>
                <a:r>
                  <a:rPr lang="en-US" i="0" dirty="0">
                    <a:sym typeface="Symbol" panose="05050102010706020507" pitchFamily="18" charset="2"/>
                  </a:rPr>
                  <a:t>Individuals of European descent</a:t>
                </a:r>
              </a:p>
              <a:p>
                <a:pPr lvl="1"/>
                <a:r>
                  <a:rPr lang="en-US" i="0" dirty="0">
                    <a:sym typeface="Symbol" panose="05050102010706020507" pitchFamily="18" charset="2"/>
                  </a:rPr>
                  <a:t>46 distinct genetic variants</a:t>
                </a:r>
              </a:p>
              <a:p>
                <a:pPr lvl="1"/>
                <a:endParaRPr lang="en-US" dirty="0">
                  <a:sym typeface="Symbol" panose="05050102010706020507" pitchFamily="18" charset="2"/>
                </a:endParaRPr>
              </a:p>
              <a:p>
                <a:r>
                  <a:rPr lang="en-US" dirty="0">
                    <a:sym typeface="Symbol" panose="05050102010706020507" pitchFamily="18" charset="2"/>
                  </a:rPr>
                  <a:t>Model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/>
                        <m:t>𝐴𝑔𝑒</m:t>
                      </m:r>
                      <m:r>
                        <a:rPr lang="en-US" i="1"/>
                        <m:t> </m:t>
                      </m:r>
                      <m:r>
                        <a:rPr lang="en-US" i="1"/>
                        <m:t>𝑜𝑓</m:t>
                      </m:r>
                      <m:r>
                        <a:rPr lang="en-US" i="1"/>
                        <m:t> </m:t>
                      </m:r>
                      <m:r>
                        <a:rPr lang="en-US" i="1"/>
                        <m:t>𝑂𝑛𝑠𝑒𝑡</m:t>
                      </m:r>
                      <m:r>
                        <a:rPr lang="en-US" i="1"/>
                        <m:t> </m:t>
                      </m:r>
                      <m:r>
                        <a:rPr lang="en-US" i="1"/>
                        <m:t>𝑜𝑓</m:t>
                      </m:r>
                      <m:r>
                        <a:rPr lang="en-US" i="1"/>
                        <m:t> </m:t>
                      </m:r>
                      <m:r>
                        <a:rPr lang="en-US" i="1"/>
                        <m:t>𝑉𝑖𝑡𝑖𝑙𝑖𝑔𝑜</m:t>
                      </m:r>
                      <m:r>
                        <a:rPr lang="en-US" i="1"/>
                        <m:t>=</m:t>
                      </m:r>
                      <m:sSub>
                        <m:sSubPr>
                          <m:ctrlPr>
                            <a:rPr lang="en-US" i="1"/>
                          </m:ctrlPr>
                        </m:sSubPr>
                        <m:e>
                          <m:r>
                            <a:rPr lang="en-US" i="1"/>
                            <m:t>𝛽</m:t>
                          </m:r>
                        </m:e>
                        <m:sub>
                          <m:r>
                            <a:rPr lang="en-US" i="1"/>
                            <m:t>0</m:t>
                          </m:r>
                        </m:sub>
                      </m:sSub>
                      <m:r>
                        <a:rPr lang="en-US" i="1"/>
                        <m:t>+</m:t>
                      </m:r>
                      <m:sSub>
                        <m:sSubPr>
                          <m:ctrlPr>
                            <a:rPr lang="en-US" i="1"/>
                          </m:ctrlPr>
                        </m:sSubPr>
                        <m:e>
                          <m:r>
                            <a:rPr lang="en-US" i="1"/>
                            <m:t>𝛽</m:t>
                          </m:r>
                        </m:e>
                        <m:sub>
                          <m:r>
                            <a:rPr lang="en-US" i="1"/>
                            <m:t>1</m:t>
                          </m:r>
                        </m:sub>
                      </m:sSub>
                      <m:r>
                        <a:rPr lang="en-US" i="1"/>
                        <m:t>∗</m:t>
                      </m:r>
                      <m:r>
                        <a:rPr lang="en-US" i="1"/>
                        <m:t>𝐺𝑒𝑛𝑒𝑡𝑖𝑐</m:t>
                      </m:r>
                      <m:r>
                        <a:rPr lang="en-US" i="1"/>
                        <m:t> </m:t>
                      </m:r>
                      <m:r>
                        <a:rPr lang="en-US" i="1"/>
                        <m:t>𝑉𝑎𝑟𝑖𝑎𝑛𝑡</m:t>
                      </m:r>
                    </m:oMath>
                  </m:oMathPara>
                </a14:m>
                <a:endParaRPr lang="en-US" dirty="0"/>
              </a:p>
              <a:p>
                <a:endParaRPr lang="en-US" dirty="0">
                  <a:sym typeface="Symbol" panose="05050102010706020507" pitchFamily="18" charset="2"/>
                </a:endParaRPr>
              </a:p>
              <a:p>
                <a:pPr lvl="1"/>
                <a:r>
                  <a:rPr lang="en-US" dirty="0">
                    <a:sym typeface="Symbol" panose="05050102010706020507" pitchFamily="18" charset="2"/>
                  </a:rPr>
                  <a:t>Ran 46 different linear regressions with age of onset as response &amp; one predictor of genetic variant for each regression</a:t>
                </a:r>
              </a:p>
              <a:p>
                <a:pPr marL="0" indent="0">
                  <a:buNone/>
                </a:pPr>
                <a:endParaRPr lang="en-US" dirty="0">
                  <a:sym typeface="Symbol" panose="05050102010706020507" pitchFamily="18" charset="2"/>
                </a:endParaRPr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DC58FD-420B-49BB-A7D0-C74F1D94E5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600" y="942393"/>
                <a:ext cx="9601200" cy="5589036"/>
              </a:xfrm>
              <a:blipFill>
                <a:blip r:embed="rId2"/>
                <a:stretch>
                  <a:fillRect l="-571" t="-9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02746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5BA54-7B87-4274-8AF0-86AEE8A26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0931" y="275253"/>
            <a:ext cx="9601200" cy="741784"/>
          </a:xfrm>
        </p:spPr>
        <p:txBody>
          <a:bodyPr/>
          <a:lstStyle/>
          <a:p>
            <a:r>
              <a:rPr lang="en-US" dirty="0"/>
              <a:t>Calculating Effect Size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D9D328-CBF6-40D7-934C-B1702F7094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1600" y="1138335"/>
                <a:ext cx="9601200" cy="4729065"/>
              </a:xfrm>
            </p:spPr>
            <p:txBody>
              <a:bodyPr/>
              <a:lstStyle/>
              <a:p>
                <a:r>
                  <a:rPr lang="en-US" dirty="0"/>
                  <a:t>Effect size can be calculated by the age of onset variance explained by the genetic variant</a:t>
                </a:r>
              </a:p>
              <a:p>
                <a:endParaRPr lang="en-US" dirty="0"/>
              </a:p>
              <a:p>
                <a:r>
                  <a:rPr lang="en-US" dirty="0"/>
                  <a:t>Variance explained normally measured 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Cohen’s  𝑓^2 was used to determine effect size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(1 −</m:t>
                          </m:r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Use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of each of the 46 regressions to find the </a:t>
                </a:r>
                <a:r>
                  <a:rPr lang="en-US"/>
                  <a:t>effect size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D9D328-CBF6-40D7-934C-B1702F7094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600" y="1138335"/>
                <a:ext cx="9601200" cy="4729065"/>
              </a:xfrm>
              <a:blipFill>
                <a:blip r:embed="rId2"/>
                <a:stretch>
                  <a:fillRect l="-571" t="-11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53865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1665A6-74DB-4F44-A6EF-F01205E871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B958A6-48ED-4FD9-BC5A-3BFC2D9BF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85800"/>
            <a:ext cx="10905066" cy="1485900"/>
          </a:xfrm>
          <a:noFill/>
        </p:spPr>
        <p:txBody>
          <a:bodyPr>
            <a:normAutofit/>
          </a:bodyPr>
          <a:lstStyle/>
          <a:p>
            <a:pPr algn="ctr"/>
            <a:r>
              <a:rPr lang="en-US" dirty="0"/>
              <a:t>Results</a:t>
            </a:r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839A78E-7662-444D-83CB-BCDD7CA0F7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87027830"/>
              </p:ext>
            </p:extLst>
          </p:nvPr>
        </p:nvGraphicFramePr>
        <p:xfrm>
          <a:off x="133739" y="1708212"/>
          <a:ext cx="11924522" cy="227595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40005">
                  <a:extLst>
                    <a:ext uri="{9D8B030D-6E8A-4147-A177-3AD203B41FA5}">
                      <a16:colId xmlns:a16="http://schemas.microsoft.com/office/drawing/2014/main" val="493656525"/>
                    </a:ext>
                  </a:extLst>
                </a:gridCol>
                <a:gridCol w="1431272">
                  <a:extLst>
                    <a:ext uri="{9D8B030D-6E8A-4147-A177-3AD203B41FA5}">
                      <a16:colId xmlns:a16="http://schemas.microsoft.com/office/drawing/2014/main" val="3438649467"/>
                    </a:ext>
                  </a:extLst>
                </a:gridCol>
                <a:gridCol w="938813">
                  <a:extLst>
                    <a:ext uri="{9D8B030D-6E8A-4147-A177-3AD203B41FA5}">
                      <a16:colId xmlns:a16="http://schemas.microsoft.com/office/drawing/2014/main" val="1641586370"/>
                    </a:ext>
                  </a:extLst>
                </a:gridCol>
                <a:gridCol w="895378">
                  <a:extLst>
                    <a:ext uri="{9D8B030D-6E8A-4147-A177-3AD203B41FA5}">
                      <a16:colId xmlns:a16="http://schemas.microsoft.com/office/drawing/2014/main" val="3661464113"/>
                    </a:ext>
                  </a:extLst>
                </a:gridCol>
                <a:gridCol w="1203649">
                  <a:extLst>
                    <a:ext uri="{9D8B030D-6E8A-4147-A177-3AD203B41FA5}">
                      <a16:colId xmlns:a16="http://schemas.microsoft.com/office/drawing/2014/main" val="608329891"/>
                    </a:ext>
                  </a:extLst>
                </a:gridCol>
                <a:gridCol w="1359160">
                  <a:extLst>
                    <a:ext uri="{9D8B030D-6E8A-4147-A177-3AD203B41FA5}">
                      <a16:colId xmlns:a16="http://schemas.microsoft.com/office/drawing/2014/main" val="1993285101"/>
                    </a:ext>
                  </a:extLst>
                </a:gridCol>
                <a:gridCol w="1343608">
                  <a:extLst>
                    <a:ext uri="{9D8B030D-6E8A-4147-A177-3AD203B41FA5}">
                      <a16:colId xmlns:a16="http://schemas.microsoft.com/office/drawing/2014/main" val="587887499"/>
                    </a:ext>
                  </a:extLst>
                </a:gridCol>
                <a:gridCol w="1178767">
                  <a:extLst>
                    <a:ext uri="{9D8B030D-6E8A-4147-A177-3AD203B41FA5}">
                      <a16:colId xmlns:a16="http://schemas.microsoft.com/office/drawing/2014/main" val="98477053"/>
                    </a:ext>
                  </a:extLst>
                </a:gridCol>
                <a:gridCol w="1278294">
                  <a:extLst>
                    <a:ext uri="{9D8B030D-6E8A-4147-A177-3AD203B41FA5}">
                      <a16:colId xmlns:a16="http://schemas.microsoft.com/office/drawing/2014/main" val="26840489"/>
                    </a:ext>
                  </a:extLst>
                </a:gridCol>
                <a:gridCol w="1455576">
                  <a:extLst>
                    <a:ext uri="{9D8B030D-6E8A-4147-A177-3AD203B41FA5}">
                      <a16:colId xmlns:a16="http://schemas.microsoft.com/office/drawing/2014/main" val="2488796506"/>
                    </a:ext>
                  </a:extLst>
                </a:gridCol>
              </a:tblGrid>
              <a:tr h="299903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188" marR="56188" marT="0" marB="0"/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Inputs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188" marR="56188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Cohen's f^2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188" marR="56188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R-squared Effect Size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188" marR="56188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0751396"/>
                  </a:ext>
                </a:extLst>
              </a:tr>
              <a:tr h="85040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188" marR="5618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Complete Observations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188" marR="5618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Power Desired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188" marR="5618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Effective DF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188" marR="5618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Unadjusted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188" marR="5618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Bonferroni Adjustment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188" marR="5618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Genome-wide adjustment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188" marR="5618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Unadjusted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188" marR="5618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Bonferroni Adjustment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188" marR="5618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Genome-wide adjustment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188" marR="56188" marT="0" marB="0" anchor="ctr"/>
                </a:tc>
                <a:extLst>
                  <a:ext uri="{0D108BD9-81ED-4DB2-BD59-A6C34878D82A}">
                    <a16:rowId xmlns:a16="http://schemas.microsoft.com/office/drawing/2014/main" val="1903688978"/>
                  </a:ext>
                </a:extLst>
              </a:tr>
              <a:tr h="112565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Age of Onset of Vitiligo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188" marR="5618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2,190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188" marR="5618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80%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188" marR="5618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188" marR="5618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0.0035889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188" marR="5618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0.00774619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188" marR="5618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0.01821105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188" marR="5618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0.0035761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188" marR="5618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0.00768665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188" marR="5618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0.01788534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188" marR="56188" marT="0" marB="0" anchor="ctr"/>
                </a:tc>
                <a:extLst>
                  <a:ext uri="{0D108BD9-81ED-4DB2-BD59-A6C34878D82A}">
                    <a16:rowId xmlns:a16="http://schemas.microsoft.com/office/drawing/2014/main" val="196461706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8747768-B209-4E1D-B9DA-CD7367EB9658}"/>
              </a:ext>
            </a:extLst>
          </p:cNvPr>
          <p:cNvSpPr txBox="1"/>
          <p:nvPr/>
        </p:nvSpPr>
        <p:spPr>
          <a:xfrm>
            <a:off x="185057" y="4497355"/>
            <a:ext cx="1182188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Genetic variant RS114448410 is the only predictor that possesses a sufficiently high effect size to have at least 80% power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unadjusted α = 0.05 and the Bonferroni adjusted α = 0.05/46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Effect disappears when genome-wide adjustment is used α = 5e-10</a:t>
            </a:r>
          </a:p>
        </p:txBody>
      </p:sp>
    </p:spTree>
    <p:extLst>
      <p:ext uri="{BB962C8B-B14F-4D97-AF65-F5344CB8AC3E}">
        <p14:creationId xmlns:p14="http://schemas.microsoft.com/office/powerpoint/2010/main" val="10608270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9657EF5-BA12-4F61-871B-2FA0711656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826526853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881</Words>
  <Application>Microsoft Office PowerPoint</Application>
  <PresentationFormat>Widescreen</PresentationFormat>
  <Paragraphs>142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 Math</vt:lpstr>
      <vt:lpstr>Franklin Gothic Book</vt:lpstr>
      <vt:lpstr>Crop</vt:lpstr>
      <vt:lpstr>Methods Presentation: Power Analysis for multiple regression with continuous response</vt:lpstr>
      <vt:lpstr>What is power?</vt:lpstr>
      <vt:lpstr>A Little Background</vt:lpstr>
      <vt:lpstr>Visualizing Power</vt:lpstr>
      <vt:lpstr>Things that Affect Power</vt:lpstr>
      <vt:lpstr>Multiple Regression</vt:lpstr>
      <vt:lpstr>Constructing the F-distribution Using Variation Explained in the Model</vt:lpstr>
      <vt:lpstr>Central vs Non-Central Distributions</vt:lpstr>
      <vt:lpstr>PowerPoint Presentation</vt:lpstr>
      <vt:lpstr>PowerPoint Presentation</vt:lpstr>
      <vt:lpstr>Calculating Power</vt:lpstr>
      <vt:lpstr>Changes in Power as Non-Centrality Parameter Changes </vt:lpstr>
      <vt:lpstr>Changes in Power as R^2 Changes </vt:lpstr>
      <vt:lpstr>Case Study</vt:lpstr>
      <vt:lpstr>Calculating Effect Size</vt:lpstr>
      <vt:lpstr>Results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Methods Presentation: Power Analysis for multiple regression with continuous response</dc:title>
  <dc:creator>Valentinas Sungaila</dc:creator>
  <cp:lastModifiedBy>Valentinas Sungaila</cp:lastModifiedBy>
  <cp:revision>4</cp:revision>
  <dcterms:created xsi:type="dcterms:W3CDTF">2020-05-15T02:37:58Z</dcterms:created>
  <dcterms:modified xsi:type="dcterms:W3CDTF">2020-05-15T02:57:55Z</dcterms:modified>
</cp:coreProperties>
</file>